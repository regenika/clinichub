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2b2eccdb-4060-6551-f516-e492c56096b8}">
          <p14:sldIdLst>
            <p14:sldId id="256"/>
            <p14:sldId id="257"/>
          </p14:sldIdLst>
        </p14:section>
        <p14:section name="Зачем это нужно" id="{0dfc8e92-8cd9-29f3-60fc-13d3796320f7}">
          <p14:sldIdLst>
            <p14:sldId id="258"/>
            <p14:sldId id="259"/>
            <p14:sldId id="260"/>
            <p14:sldId id="261"/>
          </p14:sldIdLst>
        </p14:section>
        <p14:section name="Варианты" id="{27541017-8722-8bdf-9df2-ea1062e3feab}">
          <p14:sldIdLst>
            <p14:sldId id="262"/>
            <p14:sldId id="263"/>
            <p14:sldId id="264"/>
            <p14:sldId id="265"/>
            <p14:sldId id="266"/>
          </p14:sldIdLst>
        </p14:section>
        <p14:section name="Деньги и план" id="{a1bfd044-49ef-268b-97c1-0d9f924a1402}">
          <p14:sldIdLst>
            <p14:sldId id="267"/>
            <p14:sldId id="268"/>
            <p14:sldId id="269"/>
          </p14:sldIdLst>
        </p14:section>
        <p14:section name="Приложение" id="{177d2e2e-7c36-16a8-bfb6-359fae532be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Сегодня короткий и, надеюсь, полезный разговор про медицинскую информационную систему — МИС. Это программа, в которой клиника ведёт пациентов, запись, электронные медкарты, кассу и склад.
Мы с командой уже сделали заметную часть цифровой системы клиники: сайт с онлайн-записью и систему рассылок и напоминаний. Но один вопрос я не могу и не должен решать сам — какую МИС выбрать. Это решение про работу врачей и администраторов каждый день и про деньги клиники.
План на 20 минут: что требует закон, какие риски есть сейчас, какие системы мы изучили, что предлагаем и какие решения нужны от вас сегодня.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самое главное — на случай, если дальше слушать будет некогда.
[клик] Первое. МИС нам нужна не только для удобства. С сентября 2021 года все клиники с медицинской лицензией, включая частные, обязаны передавать электронные медицинские документы в государственную систему ЕГИСЗ. Без МИС это физически невозможно: документы формируются и подписываются только в программе.
[клик] Второе. Мы изучили больше двадцати систем и предлагаем позвать на демонстрацию три: Клиентикс, SQNS и Renovatio. Ещё две держим в резерве.
[клик] Третье. По деньгам это порядка 3–15 тысяч рублей в месяц за подписку. Выбрать можно за месяц, полностью перейти и отказаться от Dikidi — примерно за три.
[клик] И что нужно от вас сегодня: согласовать этот короткий список и выделить врача и администратора, которые посмотрят демо вместе со мной. Без них выбирать нельзя — работать в системе будут они.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всё устроено сейчас. Данные о пациентах живут в трёх местах, и ни одно из них не является медицинской системой.
Dikidi — это сервис записи для салонов красоты. Медкарты в нём нет, официального способа связать его с нашей системой тоже нет.
Google-таблица с пациентами — к ней мы вернёмся через слайд, это самый дорогой риск.
Бумажные карты сами по себе законны. Но с бумаги нельзя отправить документ в ЕГИСЗ.
[клик] МИС собирает всё в одном месте: пациентов, запись, электронную медкарту с согласиями, кассу, склад препаратов и отправку документов государству. А наша система ClinicHub — напоминания, сценарии после визита, сайт — подключается к МИС и берёт данные оттуда. Поэтому для нас критично, чтобы у МИС был открытый программный интерфейс, API. Об этом ещё скажу.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требует закон. Три цифры.
[клик] С 2021 года. Отраслевые источники сходятся: с 1 сентября 2021 года все медорганизации с лицензией, включая частные, должны вести регистры организации и врачей — ФРМО и ФРМР — и передавать электронные медицинские документы в ЕГИСЗ. Часто слышно про «отсрочку до 2027 года» — это миф.
[клик] УКЭП. С 1 сентября 2026 года действует новый приказ Минздрава 209н. Он разрешает вести медкарту полностью в электронном виде, но каждый документ подписывает врач своей усиленной электронной подписью. Значит, подпись нужна каждому врачу.
[клик] 25 лет — столько хранится амбулаторная карта. Отсюда требование к поставщику: при уходе он обязан отдать нам все данные, включая подписанные документы.
[клик] Про санкции честно: источники расходятся. Одни говорят о штрафе 30–40 тысяч, другие считают это грубым нарушением лицензионных требований — 100–200 тысяч или приостановка деятельности до 90 суток. Это должен проверить юрист. Но в любом случае риск — лицензионный, а не только денежный.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риски текущей схемы. Самый дорогой — Google-таблица с пациентами.
[клик] Данные о пациентах по закону должны храниться на серверах в России. Серверы Google — за рубежом. Штраф за это — от 1 до 6 миллионов рублей.
[клик] С 30 мая 2025 года резко выросли штрафы за утечки. Если утечёт база от одной до десяти тысяч человек — а у клиники, скорее всего, такой размер — это 3–5 миллионов.
[клик] А поскольку в таблице есть сведения о здоровье, при утечке возможен штраф до 15 миллионов.
[клик] Важно: штраф получает клиника, даже если данные утекли у подрядчика. Про бумажные карты и Dikidi я уже сказал: карты законны, но закрывают путь в ЕГИСЗ, а Dikidi — это вообще не медицинская система.
Хорошая новость — самый дорогой риск можно убрать уже на этой неделе, не дожидаясь выбора МИС.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шага, которые не зависят от выбора МИС и снимают самые дорогие риски.
[клик] Первое — убрать Google-таблицу. Наша система ClinicHub уже умеет хранить пациентов, сервер будет стоять у нас. Переносим пациентов туда и удаляем таблицу. Это убирает риск в миллионы рублей.
[клик] Второе — проверить, зарегистрированы ли клиника и все врачи в государственных регистрах ФРМО и ФРМР. Это делается через портал ЕГИСЗ, МИС для этого не нужна.
[клик] Третье — проверить, подано ли уведомление в Роскомнадзор об обработке персональных данных. Если нет — подать, это бесплатно.
[клик] Четвёртое — заказать врачам усиленную электронную подпись. Она понадобится в любой МИС, а оформление занимает время.
Если согласны, я подготовлю пошаговые инструкции по каждому пункту.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каким критериям мы сравнивали системы. Порядок — это вес критерия.
[клик] Первое и главное — удобство для врачей. Если врачам неудобно, внедрение провалится, какой бы хорошей ни была система на бумаге. Для косметологии это шаблоны осмотра, фото до и после прямо в карте, информированные согласия с подписью на планшете, продажа курсов и абонементов и учёт препаратов — например, ботулотоксина в единицах.
Второе — ПроДокторов: чтобы расписание и запись синхронизировались сами.
Третье — открытый API. Это технический интерфейс, через который наша система будет брать из МИС записи и пациентов, чтобы слать напоминания и показывать на сайте свободное время.
[клик] Четвёртое — онлайн-запись, чтобы отказаться от Dikidi. Пятое — данные хранятся в России, поставщик подписывает договор на обработку данных и отдаёт все данные при уходе. И шестое — цена.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мы отбирали.
[клик] Просмотрели больше двадцати систем, которые продаются в России.
[клик] Восемь изучили подробно: сайты производителей, цены, каталоги, отзывы клиник, документацию для разработчиков.
[клик] На демо предлагаем позвать три — Клиентикс, SQNS и Renovatio, и ещё две держим в резерве — MEDODS и Medesk.
[клик] Кого исключили. Салонные программы для косметологов — COSMO, Арника, Beauty Pro, YCLIENTS: у них нет полноценной медкарты и связи с ЕГИСЗ, для клиники с лицензией это шаг в сторону от Dikidi, а не решение. IDENT — система для стоматологий, ставится на компьютер клиники и не даёт нашей системе подключиться. 1С:Медицина — самая мощная по госинтеграции, но для клиники на 3–5 врачей это от 250 тысяч рублей на старте и постоянный программист 1С. МЕДМИС — нечем подтвердить заявленный API. Инфоклиника и Медиалог рассчитаны на крупные сети.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всё сравнение на одном слайде. Зелёная галочка — подтверждено из нескольких источников, жёлтый вопрос — публично не подтверждено, проверяем на демо. Серым выделен резерв.
Обратите внимание на три вещи.
Первое: ни у одной системы независимо не подтверждены фото до/после и подпись согласий на планшете. Medesk заявляет фото, но только в собственном блоге. Поэтому на демо врач должен сам это посмотреть.
Второе: уведомления о новых и изменённых записях — по-английски вебхуки — подтверждены только у Клиентикса. Для нас это значит, что напоминания и сайт будут видеть изменения сразу, а не с задержкой в несколько минут.
Третье: связь с ЕГИСЗ так или иначе есть у всех. Но у Клиентикса электронная подпись есть только на старшем тарифе за 15 тысяч в месяц — это важно для бюджета.
Цены здесь ориентировочные, по данным сайтов и каталогов. Точные цифры будут в коммерческих предложениях.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 каждом финалисте.
[клик] Клиентикс лучше всех стыкуется с нашей системой: подтверждено, что через его API можно получить свободное время, создать запись и получать уведомления о любых изменениях. Есть ПроДокторов, абонементы, склад, данные хранятся в России. Минусы: для отправки документов в ЕГИСЗ нужен старший тариф за 15 тысяч в месяц, есть лимит 500 визитов в месяц — это нужно сверить с нашей загрузкой, и медицинская часть у него проще, чем у классических МИС.
[клик] SQNS — ближе всех к косметологии: с 2025 года у них отдельный модуль «Карта косметолога», есть все три агрегатора, ЕГИСЗ и касса, базу переносят бесплатно. Минусы: мы не нашли документацию API и не нашли независимых отзывов. Поэтому условие для них — прислать документацию до демо.
[клик] Renovatio — самая выгодная модель цены: платим только за врачей, администраторы бесплатно, все модули включены. Открытый API, на нём уже работают сторонние интеграции. Минусы: интеграция с ПроДокторов в свежих источниках не подтверждена, косметологические функции не описаны, и в отзывах жалуются, что после внедрения поддержка становится хуже.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MEDODS, который был фаворитом в нашем первом обзоре, теперь в резерве.
[клик] По двум пунктам у него лучшие подтверждения: интеграция с ПроДокторов и бесплатный модуль ЕГИСЗ. Но API у него платный, уведомлений о записях нет, косметология в описании не упоминается вообще, пользователи жалуются, что раньше бесплатные модули стали платными, а поддержка работает только до 16:00 по Москве — вечерние часы клиники не покрывает. Позовём его, если Renovatio не подтвердит ПроДокторов или SQNS не пришлёт документацию API.
[клик] Medesk на своём сайте заявляет самый полный набор для косметологии: фото до и после, шаблоны инъекций и аппаратных процедур. Но это заявления самого производителя, API есть только на старшем тарифе, и в отзывах устойчиво жалуются на поддержку. Позовём, если врачам на демо не хватит косметологических функций у трёх финалистов.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деньги. Это ориентиры для клиники на 3–5 врачей и 1–3 администраторов, по ценам на сайтах и в каталогах.
[клик] Renovatio — примерно 3,3–5,5 тысячи в месяц, потому что платим только за врачей. Клиентикс — 7 тысяч на тарифе «Стандарт» и 15 на «Максимуме», который, скорее всего, понадобится для ЕГИСЗ. MEDODS — около 8–10 тысяч плюс платные модули, включая API и ПроДокторов. SQNS цену публично не раскрывает — запросим.
[клик] Для масштаба: минимальный штраф за Google-таблицу — миллион рублей. Это больше пяти лет подписки даже на самом дорогом тарифе из этих систем, а для Renovatio — больше пятнадцати.
[клик] Что нужно заложить сверху: электронные подписи врачам, оператора передачи данных в ЕГИСЗ, тариф ПроДокторов и кассу. Эти суммы мы уточним в коммерческих предложениях. А вот SMS-напоминания в бюджет МИС закладывать не нужно — их берёт на себя наша система.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по неделям.
[клик] Первая неделя — отправляем трём поставщикам письмо с вопросами: документация API, коммерческое предложение, где хранятся данные.
[клик] Вторая-третья — три демонстрации примерно по полтора часа. Обязательно с врачом и администратором, у каждого своя оценочная таблица.
[клик] Третья-четвёртая — пробный период у одного-двух финалистов. Мы с Даниилом проверяем подключение нашей системы — только на тестовых данных, без реальных пациентов.
[клик] Четвёртая-пятая — ваше решение и договор. В договоре обязательно: обработка персональных данных, полная выгрузка при уходе, гарантии работы.
[клик] С пятой по девятую — внедрение: шаблоны для косметолога, склад, перенос базы, подключение ЕГИСЗ и ПроДокторов.
[клик] И последние две недели работаем параллельно с Dikidi, переносим онлайн-запись на сайт и в МИС, после чего Dikidi отключаем.
[клик] И одно правило, которое сэкономит всем время: если поставщик за пять рабочих дней не прислал документацию и цены, он уходит в резерв.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наконец, что мне нужно от вас сегодня. Пять пунктов.
[клик] Первое — согласовать короткий список: Клиентикс, SQNS и Renovatio, резерв — MEDODS и Medesk.
[клик] Второе — выделить врача и администратора на три демонстрации примерно по полтора часа в ближайшие две недели.
[клик] Третье — назвать потолок бюджета на МИС в месяц, чтобы я сразу отсекал лишнее.
[клик] Четвёртое — подключить юриста: проверить, что именно грозит за ЕГИСЗ, посмотреть договор с поставщиком и тексты согласий для пациентов.
[клик] Пятое — дать вводные: зарегистрированы ли клиника и врачи в ФРМО и ФРМР, подавали ли уведомление в Роскомнадзор, есть ли у врачей электронные подписи, сколько пациентов в базе и визитов в месяц.
Спасибо. Готов ответить на вопросы. Подробный отчёт со всеми источниками и полный список вопросов поставщикам я пришлю после встречи.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приложение — короткая версия списка вопросов поставщикам. Первые четыре вопроса уходят письмом до демо, остальные проверяем на самой демонстрации. Полный список из 18 вопросов — в отчёте, который я пришлю после встречи.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Регеника · выбор МИС · октябрь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Медицинская информационная система для «Регеники»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Что требует закон, какие есть варианты и что мы предлагаем</a:t>
            </a:r>
            <a:endParaRPr lang="en-US" sz="2000" dirty="0"/>
          </a:p>
        </p:txBody>
      </p:sp>
      <p:sp>
        <p:nvSpPr>
          <p:cNvPr id="4" name="meta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Святослав Добряков · октябрь 2026</a:t>
            </a:r>
            <a:endParaRPr lang="en-US" sz="1400" dirty="0"/>
          </a:p>
        </p:txBody>
      </p:sp>
      <p:sp>
        <p:nvSpPr>
          <p:cNvPr id="5" name="hero_c"/>
          <p:cNvSpPr/>
          <p:nvPr/>
        </p:nvSpPr>
        <p:spPr>
          <a:xfrm>
            <a:off x="8732520" y="1783080"/>
            <a:ext cx="2834640" cy="2834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ero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423160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Главное за одну минуту</a:t>
            </a:r>
            <a:endParaRPr lang="en-US" sz="3400" dirty="0"/>
          </a:p>
        </p:txBody>
      </p:sp>
      <p:sp>
        <p:nvSpPr>
          <p:cNvPr id="3" name="a1_k0_bg"/>
          <p:cNvSpPr/>
          <p:nvPr/>
        </p:nvSpPr>
        <p:spPr>
          <a:xfrm>
            <a:off x="548640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k0_b_c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k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790" y="1974190"/>
            <a:ext cx="486461" cy="486461"/>
          </a:xfrm>
          <a:prstGeom prst="rect">
            <a:avLst/>
          </a:prstGeom>
        </p:spPr>
      </p:pic>
      <p:sp>
        <p:nvSpPr>
          <p:cNvPr id="6" name="a1_k0_h"/>
          <p:cNvSpPr txBox="1"/>
          <p:nvPr/>
        </p:nvSpPr>
        <p:spPr>
          <a:xfrm>
            <a:off x="868680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МИС нужна по закону</a:t>
            </a:r>
            <a:endParaRPr lang="en-US" sz="2100" dirty="0"/>
          </a:p>
        </p:txBody>
      </p:sp>
      <p:sp>
        <p:nvSpPr>
          <p:cNvPr id="7" name="a1_k0_t"/>
          <p:cNvSpPr txBox="1"/>
          <p:nvPr/>
        </p:nvSpPr>
        <p:spPr>
          <a:xfrm>
            <a:off x="868680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 2021 года клиника обязана передавать медицинские документы в ЕГИСЗ. Без МИС это не выполнить.</a:t>
            </a:r>
            <a:endParaRPr lang="en-US" sz="1600" dirty="0"/>
          </a:p>
        </p:txBody>
      </p:sp>
      <p:sp>
        <p:nvSpPr>
          <p:cNvPr id="8" name="a2_k1_bg"/>
          <p:cNvSpPr/>
          <p:nvPr/>
        </p:nvSpPr>
        <p:spPr>
          <a:xfrm>
            <a:off x="4368698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2_k1_b_c"/>
          <p:cNvSpPr/>
          <p:nvPr/>
        </p:nvSpPr>
        <p:spPr>
          <a:xfrm>
            <a:off x="4688738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2_k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48" y="1974190"/>
            <a:ext cx="486461" cy="486461"/>
          </a:xfrm>
          <a:prstGeom prst="rect">
            <a:avLst/>
          </a:prstGeom>
        </p:spPr>
      </p:pic>
      <p:sp>
        <p:nvSpPr>
          <p:cNvPr id="11" name="a2_k1_h"/>
          <p:cNvSpPr txBox="1"/>
          <p:nvPr/>
        </p:nvSpPr>
        <p:spPr>
          <a:xfrm>
            <a:off x="4688738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Три системы на демо</a:t>
            </a:r>
            <a:endParaRPr lang="en-US" sz="2100" dirty="0"/>
          </a:p>
        </p:txBody>
      </p:sp>
      <p:sp>
        <p:nvSpPr>
          <p:cNvPr id="12" name="a2_k1_t"/>
          <p:cNvSpPr txBox="1"/>
          <p:nvPr/>
        </p:nvSpPr>
        <p:spPr>
          <a:xfrm>
            <a:off x="4688738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Клиентикс, SQNS и Renovatio. В резерве — MEDODS и Medesk.</a:t>
            </a:r>
            <a:endParaRPr lang="en-US" sz="1600" dirty="0"/>
          </a:p>
        </p:txBody>
      </p:sp>
      <p:sp>
        <p:nvSpPr>
          <p:cNvPr id="13" name="a3_k2_bg"/>
          <p:cNvSpPr/>
          <p:nvPr/>
        </p:nvSpPr>
        <p:spPr>
          <a:xfrm>
            <a:off x="8188757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3_k2_b_c"/>
          <p:cNvSpPr/>
          <p:nvPr/>
        </p:nvSpPr>
        <p:spPr>
          <a:xfrm>
            <a:off x="8508797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a3_k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906" y="1974190"/>
            <a:ext cx="486461" cy="486461"/>
          </a:xfrm>
          <a:prstGeom prst="rect">
            <a:avLst/>
          </a:prstGeom>
        </p:spPr>
      </p:pic>
      <p:sp>
        <p:nvSpPr>
          <p:cNvPr id="16" name="a3_k2_h"/>
          <p:cNvSpPr txBox="1"/>
          <p:nvPr/>
        </p:nvSpPr>
        <p:spPr>
          <a:xfrm>
            <a:off x="8508797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 3–15 тыс. ₽ в месяц</a:t>
            </a:r>
            <a:endParaRPr lang="en-US" sz="2100" dirty="0"/>
          </a:p>
        </p:txBody>
      </p:sp>
      <p:sp>
        <p:nvSpPr>
          <p:cNvPr id="17" name="a3_k2_t"/>
          <p:cNvSpPr txBox="1"/>
          <p:nvPr/>
        </p:nvSpPr>
        <p:spPr>
          <a:xfrm>
            <a:off x="8508797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Решение — за месяц, полный переход и отказ от Dikidi — за 2,5–3 месяца.</a:t>
            </a:r>
            <a:endParaRPr lang="en-US" sz="1600" dirty="0"/>
          </a:p>
        </p:txBody>
      </p:sp>
      <p:sp>
        <p:nvSpPr>
          <p:cNvPr id="18" name="a4_ask_bg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a4_ask_t"/>
          <p:cNvSpPr txBox="1"/>
          <p:nvPr/>
        </p:nvSpPr>
        <p:spPr>
          <a:xfrm>
            <a:off x="914400" y="502920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Сегодня нужно от вас: </a:t>
            </a:r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согласовать короткий список и выделить врача и администратора на демо.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Сейчас данные разбросаны по трём местам</a:t>
            </a:r>
            <a:endParaRPr lang="en-US" sz="3400" dirty="0"/>
          </a:p>
        </p:txBody>
      </p:sp>
      <p:sp>
        <p:nvSpPr>
          <p:cNvPr id="3" name="n0_bg"/>
          <p:cNvSpPr/>
          <p:nvPr/>
        </p:nvSpPr>
        <p:spPr>
          <a:xfrm>
            <a:off x="548640" y="1463040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0_b_c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n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3" y="1908353"/>
            <a:ext cx="435254" cy="435254"/>
          </a:xfrm>
          <a:prstGeom prst="rect">
            <a:avLst/>
          </a:prstGeom>
        </p:spPr>
      </p:pic>
      <p:sp>
        <p:nvSpPr>
          <p:cNvPr id="6" name="n0_h"/>
          <p:cNvSpPr txBox="1"/>
          <p:nvPr/>
        </p:nvSpPr>
        <p:spPr>
          <a:xfrm>
            <a:off x="1828800" y="1664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Dikidi — запись</a:t>
            </a:r>
            <a:endParaRPr lang="en-US" sz="1900" dirty="0"/>
          </a:p>
        </p:txBody>
      </p:sp>
      <p:sp>
        <p:nvSpPr>
          <p:cNvPr id="7" name="n0_t"/>
          <p:cNvSpPr txBox="1"/>
          <p:nvPr/>
        </p:nvSpPr>
        <p:spPr>
          <a:xfrm>
            <a:off x="1828800" y="210312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Сервис для салонов: нет медкарты, нет API для нашей системы</a:t>
            </a:r>
            <a:endParaRPr lang="en-US" sz="1500" dirty="0"/>
          </a:p>
        </p:txBody>
      </p:sp>
      <p:sp>
        <p:nvSpPr>
          <p:cNvPr id="8" name="n1_bg"/>
          <p:cNvSpPr/>
          <p:nvPr/>
        </p:nvSpPr>
        <p:spPr>
          <a:xfrm>
            <a:off x="548640" y="3035808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1_b_c"/>
          <p:cNvSpPr/>
          <p:nvPr/>
        </p:nvSpPr>
        <p:spPr>
          <a:xfrm>
            <a:off x="822960" y="3310128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n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53" y="3481121"/>
            <a:ext cx="435254" cy="435254"/>
          </a:xfrm>
          <a:prstGeom prst="rect">
            <a:avLst/>
          </a:prstGeom>
        </p:spPr>
      </p:pic>
      <p:sp>
        <p:nvSpPr>
          <p:cNvPr id="11" name="n1_h"/>
          <p:cNvSpPr txBox="1"/>
          <p:nvPr/>
        </p:nvSpPr>
        <p:spPr>
          <a:xfrm>
            <a:off x="1828800" y="323697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Google-таблица — пациенты</a:t>
            </a:r>
            <a:endParaRPr lang="en-US" sz="1900" dirty="0"/>
          </a:p>
        </p:txBody>
      </p:sp>
      <p:sp>
        <p:nvSpPr>
          <p:cNvPr id="12" name="n1_t"/>
          <p:cNvSpPr txBox="1"/>
          <p:nvPr/>
        </p:nvSpPr>
        <p:spPr>
          <a:xfrm>
            <a:off x="1828800" y="36758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Серверы за рубежом: нарушение закона о персональных данных</a:t>
            </a:r>
            <a:endParaRPr lang="en-US" sz="1500" dirty="0"/>
          </a:p>
        </p:txBody>
      </p:sp>
      <p:sp>
        <p:nvSpPr>
          <p:cNvPr id="13" name="n2_bg"/>
          <p:cNvSpPr/>
          <p:nvPr/>
        </p:nvSpPr>
        <p:spPr>
          <a:xfrm>
            <a:off x="548640" y="4608576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2_b_c"/>
          <p:cNvSpPr/>
          <p:nvPr/>
        </p:nvSpPr>
        <p:spPr>
          <a:xfrm>
            <a:off x="822960" y="4882896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n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53" y="5053889"/>
            <a:ext cx="435254" cy="435254"/>
          </a:xfrm>
          <a:prstGeom prst="rect">
            <a:avLst/>
          </a:prstGeom>
        </p:spPr>
      </p:pic>
      <p:sp>
        <p:nvSpPr>
          <p:cNvPr id="16" name="n2_h"/>
          <p:cNvSpPr txBox="1"/>
          <p:nvPr/>
        </p:nvSpPr>
        <p:spPr>
          <a:xfrm>
            <a:off x="1828800" y="48097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Бумажные карты</a:t>
            </a:r>
            <a:endParaRPr lang="en-US" sz="1900" dirty="0"/>
          </a:p>
        </p:txBody>
      </p:sp>
      <p:sp>
        <p:nvSpPr>
          <p:cNvPr id="17" name="n2_t"/>
          <p:cNvSpPr txBox="1"/>
          <p:nvPr/>
        </p:nvSpPr>
        <p:spPr>
          <a:xfrm>
            <a:off x="1828800" y="524865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Законны, но не позволяют передавать документы в ЕГИСЗ</a:t>
            </a:r>
            <a:endParaRPr lang="en-US" sz="1500" dirty="0"/>
          </a:p>
        </p:txBody>
      </p:sp>
      <p:pic>
        <p:nvPicPr>
          <p:cNvPr id="18" name="a1_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246120"/>
            <a:ext cx="731520" cy="731520"/>
          </a:xfrm>
          <a:prstGeom prst="rect">
            <a:avLst/>
          </a:prstGeom>
        </p:spPr>
      </p:pic>
      <p:sp>
        <p:nvSpPr>
          <p:cNvPr id="19" name="a1_mis_bg"/>
          <p:cNvSpPr/>
          <p:nvPr/>
        </p:nvSpPr>
        <p:spPr>
          <a:xfrm>
            <a:off x="6949440" y="1463040"/>
            <a:ext cx="4690872" cy="2898648"/>
          </a:xfrm>
          <a:prstGeom prst="roundRect">
            <a:avLst>
              <a:gd name="adj" fmla="val 37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a1_mis_b_c"/>
          <p:cNvSpPr/>
          <p:nvPr/>
        </p:nvSpPr>
        <p:spPr>
          <a:xfrm>
            <a:off x="7269480" y="173736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a1_mis_b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1" y="1918411"/>
            <a:ext cx="460858" cy="460858"/>
          </a:xfrm>
          <a:prstGeom prst="rect">
            <a:avLst/>
          </a:prstGeom>
        </p:spPr>
      </p:pic>
      <p:sp>
        <p:nvSpPr>
          <p:cNvPr id="22" name="a1_mis_h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Одна МИС</a:t>
            </a:r>
            <a:endParaRPr lang="en-US" sz="2600" dirty="0"/>
          </a:p>
        </p:txBody>
      </p:sp>
      <p:sp>
        <p:nvSpPr>
          <p:cNvPr id="23" name="a1_mis_t"/>
          <p:cNvSpPr txBox="1"/>
          <p:nvPr/>
        </p:nvSpPr>
        <p:spPr>
          <a:xfrm>
            <a:off x="7269480" y="2743200"/>
            <a:ext cx="4114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пациенты и запись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электронная медкарта и согласия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касса и склад препаратов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отправка документов в ЕГИСЗ</a:t>
            </a:r>
            <a:endParaRPr lang="en-US" sz="1600" dirty="0"/>
          </a:p>
        </p:txBody>
      </p:sp>
      <p:sp>
        <p:nvSpPr>
          <p:cNvPr id="24" name="a1_hub_bg"/>
          <p:cNvSpPr/>
          <p:nvPr/>
        </p:nvSpPr>
        <p:spPr>
          <a:xfrm>
            <a:off x="6949440" y="4572000"/>
            <a:ext cx="4690872" cy="1600200"/>
          </a:xfrm>
          <a:prstGeom prst="roundRect">
            <a:avLst>
              <a:gd name="adj" fmla="val 685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a1_hub_t"/>
          <p:cNvSpPr txBox="1"/>
          <p:nvPr/>
        </p:nvSpPr>
        <p:spPr>
          <a:xfrm>
            <a:off x="7269480" y="4572000"/>
            <a:ext cx="4114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Наша система ClinicHub работает поверх МИС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напоминания пациентам, сценарии после визита, сайт с онлайн-записью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Закон требует электронные документы</a:t>
            </a:r>
            <a:endParaRPr lang="en-US" sz="3400" dirty="0"/>
          </a:p>
        </p:txBody>
      </p:sp>
      <p:sp>
        <p:nvSpPr>
          <p:cNvPr id="3" name="a1_s0_bg"/>
          <p:cNvSpPr/>
          <p:nvPr/>
        </p:nvSpPr>
        <p:spPr>
          <a:xfrm>
            <a:off x="548640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s0_n"/>
          <p:cNvSpPr txBox="1"/>
          <p:nvPr/>
        </p:nvSpPr>
        <p:spPr>
          <a:xfrm>
            <a:off x="868680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2021</a:t>
            </a:r>
            <a:endParaRPr lang="en-US" sz="4000" dirty="0"/>
          </a:p>
        </p:txBody>
      </p:sp>
      <p:sp>
        <p:nvSpPr>
          <p:cNvPr id="5" name="a1_s0_t"/>
          <p:cNvSpPr txBox="1"/>
          <p:nvPr/>
        </p:nvSpPr>
        <p:spPr>
          <a:xfrm>
            <a:off x="868680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 этого года частные клиники с лицензией обязаны вести регистры ФРМО/ФРМР и передавать медицинские документы в ЕГИСЗ</a:t>
            </a:r>
            <a:endParaRPr lang="en-US" sz="1600" dirty="0"/>
          </a:p>
        </p:txBody>
      </p:sp>
      <p:sp>
        <p:nvSpPr>
          <p:cNvPr id="6" name="a2_s1_bg"/>
          <p:cNvSpPr/>
          <p:nvPr/>
        </p:nvSpPr>
        <p:spPr>
          <a:xfrm>
            <a:off x="4368698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2_s1_n"/>
          <p:cNvSpPr txBox="1"/>
          <p:nvPr/>
        </p:nvSpPr>
        <p:spPr>
          <a:xfrm>
            <a:off x="4688738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УКЭП</a:t>
            </a:r>
            <a:endParaRPr lang="en-US" sz="4000" dirty="0"/>
          </a:p>
        </p:txBody>
      </p:sp>
      <p:sp>
        <p:nvSpPr>
          <p:cNvPr id="8" name="a2_s1_t"/>
          <p:cNvSpPr txBox="1"/>
          <p:nvPr/>
        </p:nvSpPr>
        <p:spPr>
          <a:xfrm>
            <a:off x="4688738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 каждого врача: каждый электронный медицинский документ подписывается его усиленной электронной подписью (приказ 209н, с 01.09.2026)</a:t>
            </a:r>
            <a:endParaRPr lang="en-US" sz="1600" dirty="0"/>
          </a:p>
        </p:txBody>
      </p:sp>
      <p:sp>
        <p:nvSpPr>
          <p:cNvPr id="9" name="a3_s2_bg"/>
          <p:cNvSpPr/>
          <p:nvPr/>
        </p:nvSpPr>
        <p:spPr>
          <a:xfrm>
            <a:off x="8188757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3_s2_n"/>
          <p:cNvSpPr txBox="1"/>
          <p:nvPr/>
        </p:nvSpPr>
        <p:spPr>
          <a:xfrm>
            <a:off x="8508797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 лет</a:t>
            </a:r>
            <a:endParaRPr lang="en-US" sz="4000" dirty="0"/>
          </a:p>
        </p:txBody>
      </p:sp>
      <p:sp>
        <p:nvSpPr>
          <p:cNvPr id="11" name="a3_s2_t"/>
          <p:cNvSpPr txBox="1"/>
          <p:nvPr/>
        </p:nvSpPr>
        <p:spPr>
          <a:xfrm>
            <a:off x="8508797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хранится амбулаторная карта. Значит, МИС должна отдать нам все данные, если мы уйдём от поставщика</a:t>
            </a:r>
            <a:endParaRPr lang="en-US" sz="1600" dirty="0"/>
          </a:p>
        </p:txBody>
      </p:sp>
      <p:sp>
        <p:nvSpPr>
          <p:cNvPr id="12" name="a4_fine_bg"/>
          <p:cNvSpPr/>
          <p:nvPr/>
        </p:nvSpPr>
        <p:spPr>
          <a:xfrm>
            <a:off x="548640" y="5029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a4_fine_line"/>
          <p:cNvSpPr/>
          <p:nvPr/>
        </p:nvSpPr>
        <p:spPr>
          <a:xfrm>
            <a:off x="548640" y="5029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4" name="a4_fine_b_c"/>
          <p:cNvSpPr/>
          <p:nvPr/>
        </p:nvSpPr>
        <p:spPr>
          <a:xfrm>
            <a:off x="822960" y="5230368"/>
            <a:ext cx="685800" cy="6858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a4_fine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5381244"/>
            <a:ext cx="384048" cy="384048"/>
          </a:xfrm>
          <a:prstGeom prst="rect">
            <a:avLst/>
          </a:prstGeom>
        </p:spPr>
      </p:pic>
      <p:sp>
        <p:nvSpPr>
          <p:cNvPr id="16" name="a4_fine_t"/>
          <p:cNvSpPr txBox="1"/>
          <p:nvPr/>
        </p:nvSpPr>
        <p:spPr>
          <a:xfrm>
            <a:off x="1737360" y="5029200"/>
            <a:ext cx="9631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Санкции за ЕГИСЗ источники оценивают по-разному: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от 30–40 тыс. ₽ до 100–200 тыс. ₽ или приостановки деятельности до 90 суток. Точную оценку даст юрист.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Google-таблица — самый дорогой риск</a:t>
            </a:r>
            <a:endParaRPr lang="en-US" sz="3400" dirty="0"/>
          </a:p>
        </p:txBody>
      </p:sp>
      <p:sp>
        <p:nvSpPr>
          <p:cNvPr id="3" name="a1_f0_bg"/>
          <p:cNvSpPr/>
          <p:nvPr/>
        </p:nvSpPr>
        <p:spPr>
          <a:xfrm>
            <a:off x="548640" y="1463040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f0_n"/>
          <p:cNvSpPr txBox="1"/>
          <p:nvPr/>
        </p:nvSpPr>
        <p:spPr>
          <a:xfrm>
            <a:off x="868680" y="1463040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 млн ₽</a:t>
            </a:r>
            <a:endParaRPr lang="en-US" sz="3600" dirty="0"/>
          </a:p>
        </p:txBody>
      </p:sp>
      <p:sp>
        <p:nvSpPr>
          <p:cNvPr id="5" name="a1_f0_t"/>
          <p:cNvSpPr txBox="1"/>
          <p:nvPr/>
        </p:nvSpPr>
        <p:spPr>
          <a:xfrm>
            <a:off x="3703320" y="146304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 хранение данных пациентов на зарубежных серверах</a:t>
            </a:r>
            <a:endParaRPr lang="en-US" sz="1700" dirty="0"/>
          </a:p>
        </p:txBody>
      </p:sp>
      <p:sp>
        <p:nvSpPr>
          <p:cNvPr id="6" name="a2_f1_bg"/>
          <p:cNvSpPr/>
          <p:nvPr/>
        </p:nvSpPr>
        <p:spPr>
          <a:xfrm>
            <a:off x="548640" y="3035808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2_f1_n"/>
          <p:cNvSpPr txBox="1"/>
          <p:nvPr/>
        </p:nvSpPr>
        <p:spPr>
          <a:xfrm>
            <a:off x="868680" y="30358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3–5 млн ₽</a:t>
            </a:r>
            <a:endParaRPr lang="en-US" sz="3600" dirty="0"/>
          </a:p>
        </p:txBody>
      </p:sp>
      <p:sp>
        <p:nvSpPr>
          <p:cNvPr id="8" name="a2_f1_t"/>
          <p:cNvSpPr txBox="1"/>
          <p:nvPr/>
        </p:nvSpPr>
        <p:spPr>
          <a:xfrm>
            <a:off x="3703320" y="3035808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если утечёт база от 1 до 10 тысяч человек</a:t>
            </a:r>
            <a:endParaRPr lang="en-US" sz="1700" dirty="0"/>
          </a:p>
        </p:txBody>
      </p:sp>
      <p:sp>
        <p:nvSpPr>
          <p:cNvPr id="9" name="a3_f2_bg"/>
          <p:cNvSpPr/>
          <p:nvPr/>
        </p:nvSpPr>
        <p:spPr>
          <a:xfrm>
            <a:off x="548640" y="4608576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3_f2_n"/>
          <p:cNvSpPr txBox="1"/>
          <p:nvPr/>
        </p:nvSpPr>
        <p:spPr>
          <a:xfrm>
            <a:off x="868680" y="4608576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 15 млн ₽</a:t>
            </a:r>
            <a:endParaRPr lang="en-US" sz="3600" dirty="0"/>
          </a:p>
        </p:txBody>
      </p:sp>
      <p:sp>
        <p:nvSpPr>
          <p:cNvPr id="11" name="a3_f2_t"/>
          <p:cNvSpPr txBox="1"/>
          <p:nvPr/>
        </p:nvSpPr>
        <p:spPr>
          <a:xfrm>
            <a:off x="3703320" y="4608576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если утекут сведения о здоровье</a:t>
            </a:r>
            <a:endParaRPr lang="en-US" sz="1700" dirty="0"/>
          </a:p>
        </p:txBody>
      </p:sp>
      <p:sp>
        <p:nvSpPr>
          <p:cNvPr id="12" name="a4_r_b_c"/>
          <p:cNvSpPr/>
          <p:nvPr/>
        </p:nvSpPr>
        <p:spPr>
          <a:xfrm>
            <a:off x="7315200" y="14630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a4_r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6251" y="1644091"/>
            <a:ext cx="460858" cy="460858"/>
          </a:xfrm>
          <a:prstGeom prst="rect">
            <a:avLst/>
          </a:prstGeom>
        </p:spPr>
      </p:pic>
      <p:sp>
        <p:nvSpPr>
          <p:cNvPr id="14" name="a4_r_t"/>
          <p:cNvSpPr txBox="1"/>
          <p:nvPr/>
        </p:nvSpPr>
        <p:spPr>
          <a:xfrm>
            <a:off x="7315200" y="2468880"/>
            <a:ext cx="43278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Штраф платит клиника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даже если данные утекли у подрядчика: оператор персональных данных — мы.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Бумажные карты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законны, но не позволяют выполнить требования ЕГИСЗ.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Dikidi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сервис записи для салонов, а не медицинская система.</a:t>
            </a:r>
            <a:endParaRPr lang="en-US" sz="1600" dirty="0"/>
          </a:p>
        </p:txBody>
      </p:sp>
      <p:sp>
        <p:nvSpPr>
          <p:cNvPr id="15" name="src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Штрафы по КоАП ст. 13.11 в редакции с 30.05.2025 (152-ФЗ). Не юридическая консультация.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Это можно сделать уже на этой неделе</a:t>
            </a:r>
            <a:endParaRPr lang="en-US" sz="3400" dirty="0"/>
          </a:p>
        </p:txBody>
      </p:sp>
      <p:sp>
        <p:nvSpPr>
          <p:cNvPr id="3" name="a1_q0_bg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1_q0_b_c"/>
          <p:cNvSpPr/>
          <p:nvPr/>
        </p:nvSpPr>
        <p:spPr>
          <a:xfrm>
            <a:off x="914400" y="182880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q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5510" y="2019910"/>
            <a:ext cx="486461" cy="486461"/>
          </a:xfrm>
          <a:prstGeom prst="rect">
            <a:avLst/>
          </a:prstGeom>
        </p:spPr>
      </p:pic>
      <p:sp>
        <p:nvSpPr>
          <p:cNvPr id="6" name="a1_q0_h"/>
          <p:cNvSpPr txBox="1"/>
          <p:nvPr/>
        </p:nvSpPr>
        <p:spPr>
          <a:xfrm>
            <a:off x="2057400" y="175564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Убрать Google-таблицу</a:t>
            </a:r>
            <a:endParaRPr lang="en-US" sz="2100" dirty="0"/>
          </a:p>
        </p:txBody>
      </p:sp>
      <p:sp>
        <p:nvSpPr>
          <p:cNvPr id="7" name="a1_q0_t"/>
          <p:cNvSpPr txBox="1"/>
          <p:nvPr/>
        </p:nvSpPr>
        <p:spPr>
          <a:xfrm>
            <a:off x="2057400" y="260604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Перенести пациентов в нашу систему ClinicHub (сервер в России) и удалить таблицу</a:t>
            </a:r>
            <a:endParaRPr lang="en-US" sz="1600" dirty="0"/>
          </a:p>
        </p:txBody>
      </p:sp>
      <p:sp>
        <p:nvSpPr>
          <p:cNvPr id="8" name="a2_q1_bg"/>
          <p:cNvSpPr/>
          <p:nvPr/>
        </p:nvSpPr>
        <p:spPr>
          <a:xfrm>
            <a:off x="6278728" y="146304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2_q1_b_c"/>
          <p:cNvSpPr/>
          <p:nvPr/>
        </p:nvSpPr>
        <p:spPr>
          <a:xfrm>
            <a:off x="6644488" y="182880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2_q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597" y="2019910"/>
            <a:ext cx="486461" cy="486461"/>
          </a:xfrm>
          <a:prstGeom prst="rect">
            <a:avLst/>
          </a:prstGeom>
        </p:spPr>
      </p:pic>
      <p:sp>
        <p:nvSpPr>
          <p:cNvPr id="11" name="a2_q1_h"/>
          <p:cNvSpPr txBox="1"/>
          <p:nvPr/>
        </p:nvSpPr>
        <p:spPr>
          <a:xfrm>
            <a:off x="7787488" y="175564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Проверить ФРМО/ФРМР</a:t>
            </a:r>
            <a:endParaRPr lang="en-US" sz="2100" dirty="0"/>
          </a:p>
        </p:txBody>
      </p:sp>
      <p:sp>
        <p:nvSpPr>
          <p:cNvPr id="12" name="a2_q1_t"/>
          <p:cNvSpPr txBox="1"/>
          <p:nvPr/>
        </p:nvSpPr>
        <p:spPr>
          <a:xfrm>
            <a:off x="7787488" y="260604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Зарегистрированы ли клиника и все врачи в государственных регистрах</a:t>
            </a:r>
            <a:endParaRPr lang="en-US" sz="1600" dirty="0"/>
          </a:p>
        </p:txBody>
      </p:sp>
      <p:sp>
        <p:nvSpPr>
          <p:cNvPr id="13" name="a3_q2_bg"/>
          <p:cNvSpPr/>
          <p:nvPr/>
        </p:nvSpPr>
        <p:spPr>
          <a:xfrm>
            <a:off x="548640" y="393192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a3_q2_b_c"/>
          <p:cNvSpPr/>
          <p:nvPr/>
        </p:nvSpPr>
        <p:spPr>
          <a:xfrm>
            <a:off x="914400" y="42976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a3_q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10" y="4488790"/>
            <a:ext cx="486461" cy="486461"/>
          </a:xfrm>
          <a:prstGeom prst="rect">
            <a:avLst/>
          </a:prstGeom>
        </p:spPr>
      </p:pic>
      <p:sp>
        <p:nvSpPr>
          <p:cNvPr id="16" name="a3_q2_h"/>
          <p:cNvSpPr txBox="1"/>
          <p:nvPr/>
        </p:nvSpPr>
        <p:spPr>
          <a:xfrm>
            <a:off x="2057400" y="422452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Уведомить Роскомнадзор</a:t>
            </a:r>
            <a:endParaRPr lang="en-US" sz="2100" dirty="0"/>
          </a:p>
        </p:txBody>
      </p:sp>
      <p:sp>
        <p:nvSpPr>
          <p:cNvPr id="17" name="a3_q2_t"/>
          <p:cNvSpPr txBox="1"/>
          <p:nvPr/>
        </p:nvSpPr>
        <p:spPr>
          <a:xfrm>
            <a:off x="2057400" y="507492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Подано ли уведомление об обработке персональных данных</a:t>
            </a:r>
            <a:endParaRPr lang="en-US" sz="1600" dirty="0"/>
          </a:p>
        </p:txBody>
      </p:sp>
      <p:sp>
        <p:nvSpPr>
          <p:cNvPr id="18" name="a4_q3_bg"/>
          <p:cNvSpPr/>
          <p:nvPr/>
        </p:nvSpPr>
        <p:spPr>
          <a:xfrm>
            <a:off x="6278728" y="393192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a4_q3_b_c"/>
          <p:cNvSpPr/>
          <p:nvPr/>
        </p:nvSpPr>
        <p:spPr>
          <a:xfrm>
            <a:off x="6644488" y="42976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4_q3_b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597" y="4488790"/>
            <a:ext cx="486461" cy="486461"/>
          </a:xfrm>
          <a:prstGeom prst="rect">
            <a:avLst/>
          </a:prstGeom>
        </p:spPr>
      </p:pic>
      <p:sp>
        <p:nvSpPr>
          <p:cNvPr id="21" name="a4_q3_h"/>
          <p:cNvSpPr txBox="1"/>
          <p:nvPr/>
        </p:nvSpPr>
        <p:spPr>
          <a:xfrm>
            <a:off x="7787488" y="422452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Подписи для врачей</a:t>
            </a:r>
            <a:endParaRPr lang="en-US" sz="2100" dirty="0"/>
          </a:p>
        </p:txBody>
      </p:sp>
      <p:sp>
        <p:nvSpPr>
          <p:cNvPr id="22" name="a4_q3_t"/>
          <p:cNvSpPr txBox="1"/>
          <p:nvPr/>
        </p:nvSpPr>
        <p:spPr>
          <a:xfrm>
            <a:off x="7787488" y="507492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Заказать УКЭП: без неё документы в ЕГИСЗ не отправить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 каким критериям выбираем</a:t>
            </a:r>
            <a:endParaRPr lang="en-US" sz="3400" dirty="0"/>
          </a:p>
        </p:txBody>
      </p:sp>
      <p:sp>
        <p:nvSpPr>
          <p:cNvPr id="3" name="a1_c0_num_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a1_c0_num_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a1_c0_b_c"/>
          <p:cNvSpPr/>
          <p:nvPr/>
        </p:nvSpPr>
        <p:spPr>
          <a:xfrm>
            <a:off x="1234440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a1_c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199" y="1639519"/>
            <a:ext cx="332842" cy="332842"/>
          </a:xfrm>
          <a:prstGeom prst="rect">
            <a:avLst/>
          </a:prstGeom>
        </p:spPr>
      </p:pic>
      <p:sp>
        <p:nvSpPr>
          <p:cNvPr id="7" name="a1_c0_h"/>
          <p:cNvSpPr txBox="1"/>
          <p:nvPr/>
        </p:nvSpPr>
        <p:spPr>
          <a:xfrm>
            <a:off x="2011680" y="152704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Удобство для врачей</a:t>
            </a:r>
            <a:endParaRPr lang="en-US" sz="2000" dirty="0"/>
          </a:p>
        </p:txBody>
      </p:sp>
      <p:sp>
        <p:nvSpPr>
          <p:cNvPr id="8" name="a1_c0_t"/>
          <p:cNvSpPr txBox="1"/>
          <p:nvPr/>
        </p:nvSpPr>
        <p:spPr>
          <a:xfrm>
            <a:off x="2011680" y="201168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шаблоны косметолога, фото до/после, согласия на планшете, абонементы, учёт препаратов в единицах</a:t>
            </a:r>
            <a:endParaRPr lang="en-US" sz="1600" dirty="0"/>
          </a:p>
        </p:txBody>
      </p:sp>
      <p:sp>
        <p:nvSpPr>
          <p:cNvPr id="9" name="a1_c1_num_c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a1_c1_num_n"/>
          <p:cNvSpPr txBox="1"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a1_c1_b_c"/>
          <p:cNvSpPr/>
          <p:nvPr/>
        </p:nvSpPr>
        <p:spPr>
          <a:xfrm>
            <a:off x="1234440" y="30632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a1_c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99" y="3193999"/>
            <a:ext cx="332842" cy="332842"/>
          </a:xfrm>
          <a:prstGeom prst="rect">
            <a:avLst/>
          </a:prstGeom>
        </p:spPr>
      </p:pic>
      <p:sp>
        <p:nvSpPr>
          <p:cNvPr id="13" name="a1_c1_h"/>
          <p:cNvSpPr txBox="1"/>
          <p:nvPr/>
        </p:nvSpPr>
        <p:spPr>
          <a:xfrm>
            <a:off x="2011680" y="308152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ПроДокторов</a:t>
            </a:r>
            <a:endParaRPr lang="en-US" sz="2000" dirty="0"/>
          </a:p>
        </p:txBody>
      </p:sp>
      <p:sp>
        <p:nvSpPr>
          <p:cNvPr id="14" name="a1_c1_t"/>
          <p:cNvSpPr txBox="1"/>
          <p:nvPr/>
        </p:nvSpPr>
        <p:spPr>
          <a:xfrm>
            <a:off x="2011680" y="356616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расписание и запись синхронизируются сами</a:t>
            </a:r>
            <a:endParaRPr lang="en-US" sz="1600" dirty="0"/>
          </a:p>
        </p:txBody>
      </p:sp>
      <p:sp>
        <p:nvSpPr>
          <p:cNvPr id="15" name="a1_c2_num_c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a1_c2_num_n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a1_c2_b_c"/>
          <p:cNvSpPr/>
          <p:nvPr/>
        </p:nvSpPr>
        <p:spPr>
          <a:xfrm>
            <a:off x="1234440" y="46177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a1_c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199" y="4748479"/>
            <a:ext cx="332842" cy="332842"/>
          </a:xfrm>
          <a:prstGeom prst="rect">
            <a:avLst/>
          </a:prstGeom>
        </p:spPr>
      </p:pic>
      <p:sp>
        <p:nvSpPr>
          <p:cNvPr id="19" name="a1_c2_h"/>
          <p:cNvSpPr txBox="1"/>
          <p:nvPr/>
        </p:nvSpPr>
        <p:spPr>
          <a:xfrm>
            <a:off x="2011680" y="463600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Открытый API</a:t>
            </a:r>
            <a:endParaRPr lang="en-US" sz="2000" dirty="0"/>
          </a:p>
        </p:txBody>
      </p:sp>
      <p:sp>
        <p:nvSpPr>
          <p:cNvPr id="20" name="a1_c2_t"/>
          <p:cNvSpPr txBox="1"/>
          <p:nvPr/>
        </p:nvSpPr>
        <p:spPr>
          <a:xfrm>
            <a:off x="2011680" y="512064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наши напоминания и запись с сайта работают поверх МИС</a:t>
            </a:r>
            <a:endParaRPr lang="en-US" sz="1600" dirty="0"/>
          </a:p>
        </p:txBody>
      </p:sp>
      <p:sp>
        <p:nvSpPr>
          <p:cNvPr id="21" name="a2_c3_num_c"/>
          <p:cNvSpPr/>
          <p:nvPr/>
        </p:nvSpPr>
        <p:spPr>
          <a:xfrm>
            <a:off x="6370168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a2_c3_num_n"/>
          <p:cNvSpPr txBox="1"/>
          <p:nvPr/>
        </p:nvSpPr>
        <p:spPr>
          <a:xfrm>
            <a:off x="637016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a2_c3_b_c"/>
          <p:cNvSpPr/>
          <p:nvPr/>
        </p:nvSpPr>
        <p:spPr>
          <a:xfrm>
            <a:off x="7055968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a2_c3_b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727" y="1639519"/>
            <a:ext cx="332842" cy="332842"/>
          </a:xfrm>
          <a:prstGeom prst="rect">
            <a:avLst/>
          </a:prstGeom>
        </p:spPr>
      </p:pic>
      <p:sp>
        <p:nvSpPr>
          <p:cNvPr id="25" name="a2_c3_h"/>
          <p:cNvSpPr txBox="1"/>
          <p:nvPr/>
        </p:nvSpPr>
        <p:spPr>
          <a:xfrm>
            <a:off x="7833208" y="152704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Онлайн-запись</a:t>
            </a:r>
            <a:endParaRPr lang="en-US" sz="2000" dirty="0"/>
          </a:p>
        </p:txBody>
      </p:sp>
      <p:sp>
        <p:nvSpPr>
          <p:cNvPr id="26" name="a2_c3_t"/>
          <p:cNvSpPr txBox="1"/>
          <p:nvPr/>
        </p:nvSpPr>
        <p:spPr>
          <a:xfrm>
            <a:off x="7833208" y="201168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чтобы отказаться от Dikidi</a:t>
            </a:r>
            <a:endParaRPr lang="en-US" sz="1600" dirty="0"/>
          </a:p>
        </p:txBody>
      </p:sp>
      <p:sp>
        <p:nvSpPr>
          <p:cNvPr id="27" name="a2_c4_num_c"/>
          <p:cNvSpPr/>
          <p:nvPr/>
        </p:nvSpPr>
        <p:spPr>
          <a:xfrm>
            <a:off x="6370168" y="3108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a2_c4_num_n"/>
          <p:cNvSpPr txBox="1"/>
          <p:nvPr/>
        </p:nvSpPr>
        <p:spPr>
          <a:xfrm>
            <a:off x="637016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a2_c4_b_c"/>
          <p:cNvSpPr/>
          <p:nvPr/>
        </p:nvSpPr>
        <p:spPr>
          <a:xfrm>
            <a:off x="7055968" y="30632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a2_c4_b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27" y="3193999"/>
            <a:ext cx="332842" cy="332842"/>
          </a:xfrm>
          <a:prstGeom prst="rect">
            <a:avLst/>
          </a:prstGeom>
        </p:spPr>
      </p:pic>
      <p:sp>
        <p:nvSpPr>
          <p:cNvPr id="31" name="a2_c4_h"/>
          <p:cNvSpPr txBox="1"/>
          <p:nvPr/>
        </p:nvSpPr>
        <p:spPr>
          <a:xfrm>
            <a:off x="7833208" y="308152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Данные в России</a:t>
            </a:r>
            <a:endParaRPr lang="en-US" sz="2000" dirty="0"/>
          </a:p>
        </p:txBody>
      </p:sp>
      <p:sp>
        <p:nvSpPr>
          <p:cNvPr id="32" name="a2_c4_t"/>
          <p:cNvSpPr txBox="1"/>
          <p:nvPr/>
        </p:nvSpPr>
        <p:spPr>
          <a:xfrm>
            <a:off x="7833208" y="356616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договор на обработку данных, полная выгрузка при уходе</a:t>
            </a:r>
            <a:endParaRPr lang="en-US" sz="1600" dirty="0"/>
          </a:p>
        </p:txBody>
      </p:sp>
      <p:sp>
        <p:nvSpPr>
          <p:cNvPr id="33" name="a2_c5_num_c"/>
          <p:cNvSpPr/>
          <p:nvPr/>
        </p:nvSpPr>
        <p:spPr>
          <a:xfrm>
            <a:off x="6370168" y="4663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a2_c5_num_n"/>
          <p:cNvSpPr txBox="1"/>
          <p:nvPr/>
        </p:nvSpPr>
        <p:spPr>
          <a:xfrm>
            <a:off x="6370168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a2_c5_b_c"/>
          <p:cNvSpPr/>
          <p:nvPr/>
        </p:nvSpPr>
        <p:spPr>
          <a:xfrm>
            <a:off x="7055968" y="46177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6" name="a2_c5_b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6727" y="4748479"/>
            <a:ext cx="332842" cy="332842"/>
          </a:xfrm>
          <a:prstGeom prst="rect">
            <a:avLst/>
          </a:prstGeom>
        </p:spPr>
      </p:pic>
      <p:sp>
        <p:nvSpPr>
          <p:cNvPr id="37" name="a2_c5_h"/>
          <p:cNvSpPr txBox="1"/>
          <p:nvPr/>
        </p:nvSpPr>
        <p:spPr>
          <a:xfrm>
            <a:off x="7833208" y="463600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Цена</a:t>
            </a:r>
            <a:endParaRPr lang="en-US" sz="2000" dirty="0"/>
          </a:p>
        </p:txBody>
      </p:sp>
      <p:sp>
        <p:nvSpPr>
          <p:cNvPr id="38" name="a2_c5_t"/>
          <p:cNvSpPr txBox="1"/>
          <p:nvPr/>
        </p:nvSpPr>
        <p:spPr>
          <a:xfrm>
            <a:off x="7833208" y="512064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подписка, внедрение и обучение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Из 20+ систем на демо зовём три</a:t>
            </a:r>
            <a:endParaRPr lang="en-US" sz="3400" dirty="0"/>
          </a:p>
        </p:txBody>
      </p:sp>
      <p:sp>
        <p:nvSpPr>
          <p:cNvPr id="3" name="a1_st0_bg"/>
          <p:cNvSpPr/>
          <p:nvPr/>
        </p:nvSpPr>
        <p:spPr>
          <a:xfrm>
            <a:off x="548640" y="1508760"/>
            <a:ext cx="566928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a1_st0_t"/>
          <p:cNvSpPr txBox="1"/>
          <p:nvPr/>
        </p:nvSpPr>
        <p:spPr>
          <a:xfrm>
            <a:off x="548640" y="150876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20+ систем просмотрели</a:t>
            </a:r>
            <a:endParaRPr lang="en-US" sz="2200" dirty="0"/>
          </a:p>
        </p:txBody>
      </p:sp>
      <p:sp>
        <p:nvSpPr>
          <p:cNvPr id="5" name="a2_st1_bg"/>
          <p:cNvSpPr/>
          <p:nvPr/>
        </p:nvSpPr>
        <p:spPr>
          <a:xfrm>
            <a:off x="1097280" y="2697480"/>
            <a:ext cx="457200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2_st1_t"/>
          <p:cNvSpPr txBox="1"/>
          <p:nvPr/>
        </p:nvSpPr>
        <p:spPr>
          <a:xfrm>
            <a:off x="1097280" y="269748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изучили подробно</a:t>
            </a:r>
            <a:endParaRPr lang="en-US" sz="2200" dirty="0"/>
          </a:p>
        </p:txBody>
      </p:sp>
      <p:sp>
        <p:nvSpPr>
          <p:cNvPr id="7" name="a3_st2_bg"/>
          <p:cNvSpPr/>
          <p:nvPr/>
        </p:nvSpPr>
        <p:spPr>
          <a:xfrm>
            <a:off x="1645920" y="3886200"/>
            <a:ext cx="3474720" cy="96012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3_st2_t"/>
          <p:cNvSpPr txBox="1"/>
          <p:nvPr/>
        </p:nvSpPr>
        <p:spPr>
          <a:xfrm>
            <a:off x="1645920" y="388620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на демо + 2 в резерве</a:t>
            </a:r>
            <a:endParaRPr lang="en-US" sz="2200" dirty="0"/>
          </a:p>
        </p:txBody>
      </p:sp>
      <p:sp>
        <p:nvSpPr>
          <p:cNvPr id="9" name="a3_names"/>
          <p:cNvSpPr txBox="1"/>
          <p:nvPr/>
        </p:nvSpPr>
        <p:spPr>
          <a:xfrm>
            <a:off x="548640" y="51663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Клиентикс · SQNS · Renovatio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резерв: MEDODS · Medesk</a:t>
            </a:r>
            <a:endParaRPr lang="en-US" sz="1800" dirty="0"/>
          </a:p>
        </p:txBody>
      </p:sp>
      <p:sp>
        <p:nvSpPr>
          <p:cNvPr id="10" name="a4_ex_h"/>
          <p:cNvSpPr txBox="1"/>
          <p:nvPr/>
        </p:nvSpPr>
        <p:spPr>
          <a:xfrm>
            <a:off x="6675120" y="150876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Кого исключили и почему</a:t>
            </a:r>
            <a:endParaRPr lang="en-US" sz="2100" dirty="0"/>
          </a:p>
        </p:txBody>
      </p:sp>
      <p:sp>
        <p:nvSpPr>
          <p:cNvPr id="11" name="a4_ex0_x"/>
          <p:cNvSpPr txBox="1"/>
          <p:nvPr/>
        </p:nvSpPr>
        <p:spPr>
          <a:xfrm>
            <a:off x="667512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2" name="a4_ex0_t"/>
          <p:cNvSpPr txBox="1"/>
          <p:nvPr/>
        </p:nvSpPr>
        <p:spPr>
          <a:xfrm>
            <a:off x="7086600" y="2103120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Салонные CRM.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COSMO, Арника, Beauty Pro, YCLIENTS: нет полноценной медкарты и ЕГИСЗ</a:t>
            </a:r>
            <a:endParaRPr lang="en-US" sz="1500" dirty="0"/>
          </a:p>
        </p:txBody>
      </p:sp>
      <p:sp>
        <p:nvSpPr>
          <p:cNvPr id="13" name="a4_ex1_x"/>
          <p:cNvSpPr txBox="1"/>
          <p:nvPr/>
        </p:nvSpPr>
        <p:spPr>
          <a:xfrm>
            <a:off x="6675120" y="2889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4" name="a4_ex1_t"/>
          <p:cNvSpPr txBox="1"/>
          <p:nvPr/>
        </p:nvSpPr>
        <p:spPr>
          <a:xfrm>
            <a:off x="7086600" y="2889504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IDENT.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стоматологическая, ставится на компьютер клиники, открытого API нет</a:t>
            </a:r>
            <a:endParaRPr lang="en-US" sz="1500" dirty="0"/>
          </a:p>
        </p:txBody>
      </p:sp>
      <p:sp>
        <p:nvSpPr>
          <p:cNvPr id="15" name="a4_ex2_x"/>
          <p:cNvSpPr txBox="1"/>
          <p:nvPr/>
        </p:nvSpPr>
        <p:spPr>
          <a:xfrm>
            <a:off x="6675120" y="3675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6" name="a4_ex2_t"/>
          <p:cNvSpPr txBox="1"/>
          <p:nvPr/>
        </p:nvSpPr>
        <p:spPr>
          <a:xfrm>
            <a:off x="7086600" y="3675888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1С:Медицина.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 250 тыс. ₽ на старте и нужен программист 1С</a:t>
            </a:r>
            <a:endParaRPr lang="en-US" sz="1500" dirty="0"/>
          </a:p>
        </p:txBody>
      </p:sp>
      <p:sp>
        <p:nvSpPr>
          <p:cNvPr id="17" name="a4_ex3_x"/>
          <p:cNvSpPr txBox="1"/>
          <p:nvPr/>
        </p:nvSpPr>
        <p:spPr>
          <a:xfrm>
            <a:off x="6675120" y="446227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8" name="a4_ex3_t"/>
          <p:cNvSpPr txBox="1"/>
          <p:nvPr/>
        </p:nvSpPr>
        <p:spPr>
          <a:xfrm>
            <a:off x="7086600" y="4462272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МЕДМИС.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заявлен, но не подтверждён</a:t>
            </a:r>
            <a:endParaRPr lang="en-US" sz="1500" dirty="0"/>
          </a:p>
        </p:txBody>
      </p:sp>
      <p:sp>
        <p:nvSpPr>
          <p:cNvPr id="19" name="a4_ex4_x"/>
          <p:cNvSpPr txBox="1"/>
          <p:nvPr/>
        </p:nvSpPr>
        <p:spPr>
          <a:xfrm>
            <a:off x="6675120" y="52486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20" name="a4_ex4_t"/>
          <p:cNvSpPr txBox="1"/>
          <p:nvPr/>
        </p:nvSpPr>
        <p:spPr>
          <a:xfrm>
            <a:off x="7086600" y="5248656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Инфоклиника, Медиалог.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рассчитаны на крупные сети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Финалисты и резерв: что подтверждено</a:t>
            </a:r>
            <a:endParaRPr lang="en-US" sz="34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Клиентикс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SQNS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Renovatio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MEDODS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62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Medesk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625D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Косметология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абонементы, склад; фото —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«Карта косметолога»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склад с автосписанием; остальное —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конструктор протоколов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до/после, шаблоны инъекций*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ПроДокторов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подтверждено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упомянут вскользь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для нашей системы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и уведомления о записях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документация не найдена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API, без уведомлений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платный, без уведомлений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на старшем тарифе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ЕГИСЗ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тарифе «Максимум»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заявлена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подтверждают клиенты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модуль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заявлена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Подписка в месяц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7–15 тыс. 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запросу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3,3–5,5 тыс. 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7,9–9,9 тыс. ₽ + модули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цены противоречат друг другу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</a:tbl>
          </a:graphicData>
        </a:graphic>
      </p:graphicFrame>
      <p:sp>
        <p:nvSpPr>
          <p:cNvPr id="4" name="legend"/>
          <p:cNvSpPr txBox="1"/>
          <p:nvPr/>
        </p:nvSpPr>
        <p:spPr>
          <a:xfrm>
            <a:off x="548640" y="57607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✓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подтверждено   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?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публично не подтверждено — проверяем на демо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серым — резерв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* по словам производителя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Данные на 19.10.2026: сайты производителей, каталоги, отзывы. Цены — ориентир, подтверждаем коммерческим предложением.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У каждого финалиста своя сильная сторона</a:t>
            </a:r>
            <a:endParaRPr lang="en-US" sz="3400" dirty="0"/>
          </a:p>
        </p:txBody>
      </p:sp>
      <p:sp>
        <p:nvSpPr>
          <p:cNvPr id="3" name="a1_fin0_bg"/>
          <p:cNvSpPr/>
          <p:nvPr/>
        </p:nvSpPr>
        <p:spPr>
          <a:xfrm>
            <a:off x="548640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1_fin0_b_c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fin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1852574"/>
            <a:ext cx="409651" cy="409651"/>
          </a:xfrm>
          <a:prstGeom prst="rect">
            <a:avLst/>
          </a:prstGeom>
        </p:spPr>
      </p:pic>
      <p:sp>
        <p:nvSpPr>
          <p:cNvPr id="6" name="a1_fin0_h"/>
          <p:cNvSpPr txBox="1"/>
          <p:nvPr/>
        </p:nvSpPr>
        <p:spPr>
          <a:xfrm>
            <a:off x="1691640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Клиентикс</a:t>
            </a:r>
            <a:endParaRPr lang="en-US" sz="2200" dirty="0"/>
          </a:p>
        </p:txBody>
      </p:sp>
      <p:sp>
        <p:nvSpPr>
          <p:cNvPr id="7" name="a1_fin0_s"/>
          <p:cNvSpPr txBox="1"/>
          <p:nvPr/>
        </p:nvSpPr>
        <p:spPr>
          <a:xfrm>
            <a:off x="1691640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Лучше всех стыкуется с нашей системой</a:t>
            </a:r>
            <a:endParaRPr lang="en-US" sz="1400" dirty="0"/>
          </a:p>
        </p:txBody>
      </p:sp>
      <p:sp>
        <p:nvSpPr>
          <p:cNvPr id="8" name="a1_fin0_t"/>
          <p:cNvSpPr txBox="1"/>
          <p:nvPr/>
        </p:nvSpPr>
        <p:spPr>
          <a:xfrm>
            <a:off x="822960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API и уведомления о записях подтверждены другими разработчиками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ПроДокторов, абонементы, склад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данные в дата-центрах в России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для ЕГИСЗ нужен тариф «Максимум», 15 тыс. ₽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лимит 500 визитов в месяц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медицинская часть проще классических МИС</a:t>
            </a:r>
            <a:endParaRPr lang="en-US" sz="1500" dirty="0"/>
          </a:p>
        </p:txBody>
      </p:sp>
      <p:sp>
        <p:nvSpPr>
          <p:cNvPr id="9" name="a2_fin1_bg"/>
          <p:cNvSpPr/>
          <p:nvPr/>
        </p:nvSpPr>
        <p:spPr>
          <a:xfrm>
            <a:off x="4353458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a2_fin1_b_c"/>
          <p:cNvSpPr/>
          <p:nvPr/>
        </p:nvSpPr>
        <p:spPr>
          <a:xfrm>
            <a:off x="4627778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a2_fin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713" y="1852574"/>
            <a:ext cx="409651" cy="409651"/>
          </a:xfrm>
          <a:prstGeom prst="rect">
            <a:avLst/>
          </a:prstGeom>
        </p:spPr>
      </p:pic>
      <p:sp>
        <p:nvSpPr>
          <p:cNvPr id="12" name="a2_fin1_h"/>
          <p:cNvSpPr txBox="1"/>
          <p:nvPr/>
        </p:nvSpPr>
        <p:spPr>
          <a:xfrm>
            <a:off x="5496458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SQNS</a:t>
            </a:r>
            <a:endParaRPr lang="en-US" sz="2200" dirty="0"/>
          </a:p>
        </p:txBody>
      </p:sp>
      <p:sp>
        <p:nvSpPr>
          <p:cNvPr id="13" name="a2_fin1_s"/>
          <p:cNvSpPr txBox="1"/>
          <p:nvPr/>
        </p:nvSpPr>
        <p:spPr>
          <a:xfrm>
            <a:off x="5496458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Ближе всех к косметологии</a:t>
            </a:r>
            <a:endParaRPr lang="en-US" sz="1400" dirty="0"/>
          </a:p>
        </p:txBody>
      </p:sp>
      <p:sp>
        <p:nvSpPr>
          <p:cNvPr id="14" name="a2_fin1_t"/>
          <p:cNvSpPr txBox="1"/>
          <p:nvPr/>
        </p:nvSpPr>
        <p:spPr>
          <a:xfrm>
            <a:off x="4627778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модуль «Карта косметолога» с 2025 года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ПроДокторов, СберЗдоровье, НаПоправку, ЕГИСЗ, касса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бесплатный перенос базы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документация API не найдена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нет независимых отзывов</a:t>
            </a:r>
            <a:endParaRPr lang="en-US" sz="1500" dirty="0"/>
          </a:p>
        </p:txBody>
      </p:sp>
      <p:sp>
        <p:nvSpPr>
          <p:cNvPr id="15" name="a3_fin2_bg"/>
          <p:cNvSpPr/>
          <p:nvPr/>
        </p:nvSpPr>
        <p:spPr>
          <a:xfrm>
            <a:off x="8158277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3_fin2_b_c"/>
          <p:cNvSpPr/>
          <p:nvPr/>
        </p:nvSpPr>
        <p:spPr>
          <a:xfrm>
            <a:off x="8432597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a3_fin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531" y="1852574"/>
            <a:ext cx="409651" cy="409651"/>
          </a:xfrm>
          <a:prstGeom prst="rect">
            <a:avLst/>
          </a:prstGeom>
        </p:spPr>
      </p:pic>
      <p:sp>
        <p:nvSpPr>
          <p:cNvPr id="18" name="a3_fin2_h"/>
          <p:cNvSpPr txBox="1"/>
          <p:nvPr/>
        </p:nvSpPr>
        <p:spPr>
          <a:xfrm>
            <a:off x="9301277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Renovatio</a:t>
            </a:r>
            <a:endParaRPr lang="en-US" sz="2200" dirty="0"/>
          </a:p>
        </p:txBody>
      </p:sp>
      <p:sp>
        <p:nvSpPr>
          <p:cNvPr id="19" name="a3_fin2_s"/>
          <p:cNvSpPr txBox="1"/>
          <p:nvPr/>
        </p:nvSpPr>
        <p:spPr>
          <a:xfrm>
            <a:off x="9301277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Самая выгодная цена</a:t>
            </a:r>
            <a:endParaRPr lang="en-US" sz="1400" dirty="0"/>
          </a:p>
        </p:txBody>
      </p:sp>
      <p:sp>
        <p:nvSpPr>
          <p:cNvPr id="20" name="a3_fin2_t"/>
          <p:cNvSpPr txBox="1"/>
          <p:nvPr/>
        </p:nvSpPr>
        <p:spPr>
          <a:xfrm>
            <a:off x="8432597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платим только за врачей, администраторы бесплатно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открытый API, на нём уже строят интеграции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бесплатный перенос базы и обучение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 не подтверждён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косметологических функций нет в описании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жалобы на поддержку после внедрения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MEDODS и Medesk — в резерве</a:t>
            </a:r>
            <a:endParaRPr lang="en-US" sz="3400" dirty="0"/>
          </a:p>
        </p:txBody>
      </p:sp>
      <p:sp>
        <p:nvSpPr>
          <p:cNvPr id="3" name="a1_r0_bg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r0_b_c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a1_r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673" y="1908353"/>
            <a:ext cx="435254" cy="435254"/>
          </a:xfrm>
          <a:prstGeom prst="rect">
            <a:avLst/>
          </a:prstGeom>
        </p:spPr>
      </p:pic>
      <p:sp>
        <p:nvSpPr>
          <p:cNvPr id="6" name="a1_r0_h"/>
          <p:cNvSpPr txBox="1"/>
          <p:nvPr/>
        </p:nvSpPr>
        <p:spPr>
          <a:xfrm>
            <a:off x="1828800" y="1737360"/>
            <a:ext cx="380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MEDODS</a:t>
            </a:r>
            <a:endParaRPr lang="en-US" sz="2400" dirty="0"/>
          </a:p>
        </p:txBody>
      </p:sp>
      <p:sp>
        <p:nvSpPr>
          <p:cNvPr id="7" name="a1_r0_s"/>
          <p:cNvSpPr txBox="1"/>
          <p:nvPr/>
        </p:nvSpPr>
        <p:spPr>
          <a:xfrm>
            <a:off x="1828800" y="216712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Был фаворитом в первом обзоре</a:t>
            </a:r>
            <a:endParaRPr lang="en-US" sz="1500" dirty="0"/>
          </a:p>
        </p:txBody>
      </p:sp>
      <p:sp>
        <p:nvSpPr>
          <p:cNvPr id="8" name="a1_r0_t"/>
          <p:cNvSpPr txBox="1"/>
          <p:nvPr/>
        </p:nvSpPr>
        <p:spPr>
          <a:xfrm>
            <a:off x="868680" y="2788920"/>
            <a:ext cx="47242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ПроДокторов и ЕГИСЗ подтверждены, модуль ЕГИСЗ бесплатный.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API платный и без уведомлений, косметологии в описании нет, цены выросли, поддержка работает до 16:00.</a:t>
            </a:r>
            <a:endParaRPr lang="en-US" sz="1600" dirty="0"/>
          </a:p>
        </p:txBody>
      </p:sp>
      <p:sp>
        <p:nvSpPr>
          <p:cNvPr id="9" name="a1_r0_w_bg"/>
          <p:cNvSpPr/>
          <p:nvPr/>
        </p:nvSpPr>
        <p:spPr>
          <a:xfrm>
            <a:off x="868680" y="5029200"/>
            <a:ext cx="4724248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a1_r0_w"/>
          <p:cNvSpPr txBox="1"/>
          <p:nvPr/>
        </p:nvSpPr>
        <p:spPr>
          <a:xfrm>
            <a:off x="1051560" y="502920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Зовём, если Renovatio не подтвердит ПроДокторов или SQNS не даст API.</a:t>
            </a:r>
            <a:endParaRPr lang="en-US" sz="1500" dirty="0"/>
          </a:p>
        </p:txBody>
      </p:sp>
      <p:sp>
        <p:nvSpPr>
          <p:cNvPr id="11" name="a2_r1_bg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2_r1_b_c"/>
          <p:cNvSpPr/>
          <p:nvPr/>
        </p:nvSpPr>
        <p:spPr>
          <a:xfrm>
            <a:off x="6598768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a2_r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760" y="1908353"/>
            <a:ext cx="435254" cy="435254"/>
          </a:xfrm>
          <a:prstGeom prst="rect">
            <a:avLst/>
          </a:prstGeom>
        </p:spPr>
      </p:pic>
      <p:sp>
        <p:nvSpPr>
          <p:cNvPr id="14" name="a2_r1_h"/>
          <p:cNvSpPr txBox="1"/>
          <p:nvPr/>
        </p:nvSpPr>
        <p:spPr>
          <a:xfrm>
            <a:off x="7558888" y="1737360"/>
            <a:ext cx="380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Medesk</a:t>
            </a:r>
            <a:endParaRPr lang="en-US" sz="2400" dirty="0"/>
          </a:p>
        </p:txBody>
      </p:sp>
      <p:sp>
        <p:nvSpPr>
          <p:cNvPr id="15" name="a2_r1_s"/>
          <p:cNvSpPr txBox="1"/>
          <p:nvPr/>
        </p:nvSpPr>
        <p:spPr>
          <a:xfrm>
            <a:off x="7558888" y="216712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Сильнее всех заявляет косметологию</a:t>
            </a:r>
            <a:endParaRPr lang="en-US" sz="1500" dirty="0"/>
          </a:p>
        </p:txBody>
      </p:sp>
      <p:sp>
        <p:nvSpPr>
          <p:cNvPr id="16" name="a2_r1_t"/>
          <p:cNvSpPr txBox="1"/>
          <p:nvPr/>
        </p:nvSpPr>
        <p:spPr>
          <a:xfrm>
            <a:off x="6598768" y="2788920"/>
            <a:ext cx="47242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Фото до/после, шаблоны инъекций и аппаратных процедур, списание препаратов — по словам производителя.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API только на старшем тарифе, жалобы на поддержку, цены в источниках противоречат друг другу.</a:t>
            </a:r>
            <a:endParaRPr lang="en-US" sz="1600" dirty="0"/>
          </a:p>
        </p:txBody>
      </p:sp>
      <p:sp>
        <p:nvSpPr>
          <p:cNvPr id="17" name="a2_r1_w_bg"/>
          <p:cNvSpPr/>
          <p:nvPr/>
        </p:nvSpPr>
        <p:spPr>
          <a:xfrm>
            <a:off x="6598768" y="5029200"/>
            <a:ext cx="4724248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a2_r1_w"/>
          <p:cNvSpPr txBox="1"/>
          <p:nvPr/>
        </p:nvSpPr>
        <p:spPr>
          <a:xfrm>
            <a:off x="6781648" y="502920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Зовём, если врачам не хватит косметологии у финалистов.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Подписка — от 3 до 15 тыс. ₽ в месяц</a:t>
            </a:r>
            <a:endParaRPr lang="en-US" sz="3400" dirty="0"/>
          </a:p>
        </p:txBody>
      </p:sp>
      <p:sp>
        <p:nvSpPr>
          <p:cNvPr id="3" name="a1_m0_bg"/>
          <p:cNvSpPr/>
          <p:nvPr/>
        </p:nvSpPr>
        <p:spPr>
          <a:xfrm>
            <a:off x="548640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m0_h"/>
          <p:cNvSpPr txBox="1"/>
          <p:nvPr/>
        </p:nvSpPr>
        <p:spPr>
          <a:xfrm>
            <a:off x="822960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Renovatio</a:t>
            </a:r>
            <a:endParaRPr lang="en-US" sz="1800" dirty="0"/>
          </a:p>
        </p:txBody>
      </p:sp>
      <p:sp>
        <p:nvSpPr>
          <p:cNvPr id="5" name="a1_m0_n"/>
          <p:cNvSpPr txBox="1"/>
          <p:nvPr/>
        </p:nvSpPr>
        <p:spPr>
          <a:xfrm>
            <a:off x="822960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3,3–5,5</a:t>
            </a:r>
            <a:endParaRPr lang="en-US" sz="4000" dirty="0"/>
          </a:p>
        </p:txBody>
      </p:sp>
      <p:sp>
        <p:nvSpPr>
          <p:cNvPr id="6" name="a1_m0_u"/>
          <p:cNvSpPr txBox="1"/>
          <p:nvPr/>
        </p:nvSpPr>
        <p:spPr>
          <a:xfrm>
            <a:off x="822960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</a:t>
            </a:r>
            <a:endParaRPr lang="en-US" sz="1500" dirty="0"/>
          </a:p>
        </p:txBody>
      </p:sp>
      <p:sp>
        <p:nvSpPr>
          <p:cNvPr id="7" name="a1_m0_t"/>
          <p:cNvSpPr txBox="1"/>
          <p:nvPr/>
        </p:nvSpPr>
        <p:spPr>
          <a:xfrm>
            <a:off x="822960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1 090 ₽ × 3–5 врачей</a:t>
            </a:r>
            <a:endParaRPr lang="en-US" sz="1300" dirty="0"/>
          </a:p>
        </p:txBody>
      </p:sp>
      <p:sp>
        <p:nvSpPr>
          <p:cNvPr id="8" name="a1_m1_bg"/>
          <p:cNvSpPr/>
          <p:nvPr/>
        </p:nvSpPr>
        <p:spPr>
          <a:xfrm>
            <a:off x="3390824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1_m1_h"/>
          <p:cNvSpPr txBox="1"/>
          <p:nvPr/>
        </p:nvSpPr>
        <p:spPr>
          <a:xfrm>
            <a:off x="3665144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Клиентикс</a:t>
            </a:r>
            <a:endParaRPr lang="en-US" sz="1800" dirty="0"/>
          </a:p>
        </p:txBody>
      </p:sp>
      <p:sp>
        <p:nvSpPr>
          <p:cNvPr id="10" name="a1_m1_n"/>
          <p:cNvSpPr txBox="1"/>
          <p:nvPr/>
        </p:nvSpPr>
        <p:spPr>
          <a:xfrm>
            <a:off x="3665144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7–15</a:t>
            </a:r>
            <a:endParaRPr lang="en-US" sz="4000" dirty="0"/>
          </a:p>
        </p:txBody>
      </p:sp>
      <p:sp>
        <p:nvSpPr>
          <p:cNvPr id="11" name="a1_m1_u"/>
          <p:cNvSpPr txBox="1"/>
          <p:nvPr/>
        </p:nvSpPr>
        <p:spPr>
          <a:xfrm>
            <a:off x="3665144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</a:t>
            </a:r>
            <a:endParaRPr lang="en-US" sz="1500" dirty="0"/>
          </a:p>
        </p:txBody>
      </p:sp>
      <p:sp>
        <p:nvSpPr>
          <p:cNvPr id="12" name="a1_m1_t"/>
          <p:cNvSpPr txBox="1"/>
          <p:nvPr/>
        </p:nvSpPr>
        <p:spPr>
          <a:xfrm>
            <a:off x="3665144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«Стандарт» или «Максимум»</a:t>
            </a:r>
            <a:endParaRPr lang="en-US" sz="1300" dirty="0"/>
          </a:p>
        </p:txBody>
      </p:sp>
      <p:sp>
        <p:nvSpPr>
          <p:cNvPr id="13" name="a1_m2_bg"/>
          <p:cNvSpPr/>
          <p:nvPr/>
        </p:nvSpPr>
        <p:spPr>
          <a:xfrm>
            <a:off x="6233008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1_m2_h"/>
          <p:cNvSpPr txBox="1"/>
          <p:nvPr/>
        </p:nvSpPr>
        <p:spPr>
          <a:xfrm>
            <a:off x="6507328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MEDODS</a:t>
            </a:r>
            <a:endParaRPr lang="en-US" sz="1800" dirty="0"/>
          </a:p>
        </p:txBody>
      </p:sp>
      <p:sp>
        <p:nvSpPr>
          <p:cNvPr id="15" name="a1_m2_n"/>
          <p:cNvSpPr txBox="1"/>
          <p:nvPr/>
        </p:nvSpPr>
        <p:spPr>
          <a:xfrm>
            <a:off x="6507328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7,9–9,9</a:t>
            </a:r>
            <a:endParaRPr lang="en-US" sz="4000" dirty="0"/>
          </a:p>
        </p:txBody>
      </p:sp>
      <p:sp>
        <p:nvSpPr>
          <p:cNvPr id="16" name="a1_m2_u"/>
          <p:cNvSpPr txBox="1"/>
          <p:nvPr/>
        </p:nvSpPr>
        <p:spPr>
          <a:xfrm>
            <a:off x="6507328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 + модули</a:t>
            </a:r>
            <a:endParaRPr lang="en-US" sz="1500" dirty="0"/>
          </a:p>
        </p:txBody>
      </p:sp>
      <p:sp>
        <p:nvSpPr>
          <p:cNvPr id="17" name="a1_m2_t"/>
          <p:cNvSpPr txBox="1"/>
          <p:nvPr/>
        </p:nvSpPr>
        <p:spPr>
          <a:xfrm>
            <a:off x="6507328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и ПроДокторов — отдельно</a:t>
            </a:r>
            <a:endParaRPr lang="en-US" sz="1300" dirty="0"/>
          </a:p>
        </p:txBody>
      </p:sp>
      <p:sp>
        <p:nvSpPr>
          <p:cNvPr id="18" name="a1_m3_bg"/>
          <p:cNvSpPr/>
          <p:nvPr/>
        </p:nvSpPr>
        <p:spPr>
          <a:xfrm>
            <a:off x="9075191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1_m3_h"/>
          <p:cNvSpPr txBox="1"/>
          <p:nvPr/>
        </p:nvSpPr>
        <p:spPr>
          <a:xfrm>
            <a:off x="9349511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SQNS</a:t>
            </a:r>
            <a:endParaRPr lang="en-US" sz="1800" dirty="0"/>
          </a:p>
        </p:txBody>
      </p:sp>
      <p:sp>
        <p:nvSpPr>
          <p:cNvPr id="20" name="a1_m3_n"/>
          <p:cNvSpPr txBox="1"/>
          <p:nvPr/>
        </p:nvSpPr>
        <p:spPr>
          <a:xfrm>
            <a:off x="9349511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4000" dirty="0"/>
          </a:p>
        </p:txBody>
      </p:sp>
      <p:sp>
        <p:nvSpPr>
          <p:cNvPr id="21" name="a1_m3_u"/>
          <p:cNvSpPr txBox="1"/>
          <p:nvPr/>
        </p:nvSpPr>
        <p:spPr>
          <a:xfrm>
            <a:off x="9349511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 запросу</a:t>
            </a:r>
            <a:endParaRPr lang="en-US" sz="1500" dirty="0"/>
          </a:p>
        </p:txBody>
      </p:sp>
      <p:sp>
        <p:nvSpPr>
          <p:cNvPr id="22" name="a1_m3_t"/>
          <p:cNvSpPr txBox="1"/>
          <p:nvPr/>
        </p:nvSpPr>
        <p:spPr>
          <a:xfrm>
            <a:off x="9349511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цена «от 1 120 ₽» без периода</a:t>
            </a:r>
            <a:endParaRPr lang="en-US" sz="1300" dirty="0"/>
          </a:p>
        </p:txBody>
      </p:sp>
      <p:sp>
        <p:nvSpPr>
          <p:cNvPr id="23" name="a2_cmp_bg"/>
          <p:cNvSpPr/>
          <p:nvPr/>
        </p:nvSpPr>
        <p:spPr>
          <a:xfrm>
            <a:off x="548640" y="4206240"/>
            <a:ext cx="6766560" cy="1965960"/>
          </a:xfrm>
          <a:prstGeom prst="roundRect">
            <a:avLst>
              <a:gd name="adj" fmla="val 55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a2_cmp_t"/>
          <p:cNvSpPr txBox="1"/>
          <p:nvPr/>
        </p:nvSpPr>
        <p:spPr>
          <a:xfrm>
            <a:off x="914400" y="4206240"/>
            <a:ext cx="60350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Минимальный штраф за Google-таблицу — 1 млн 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Это больше 5 лет подписки даже на самом дорогом тарифе.</a:t>
            </a:r>
            <a:endParaRPr lang="en-US" sz="1700" dirty="0"/>
          </a:p>
        </p:txBody>
      </p:sp>
      <p:sp>
        <p:nvSpPr>
          <p:cNvPr id="25" name="a3_extra"/>
          <p:cNvSpPr txBox="1"/>
          <p:nvPr/>
        </p:nvSpPr>
        <p:spPr>
          <a:xfrm>
            <a:off x="7680960" y="4206240"/>
            <a:ext cx="39620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Отдельно заложить: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электронные подписи врачам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оператор передачи данных в ЕГИСЗ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тариф ПроДокторов и касса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SMS-напоминания не нужны: их отправляет наша система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Решение — за месяц, переход — за три</a:t>
            </a:r>
            <a:endParaRPr lang="en-US" sz="3400" dirty="0"/>
          </a:p>
        </p:txBody>
      </p:sp>
      <p:sp>
        <p:nvSpPr>
          <p:cNvPr id="3" name="tl_line"/>
          <p:cNvSpPr/>
          <p:nvPr/>
        </p:nvSpPr>
        <p:spPr>
          <a:xfrm>
            <a:off x="1473175" y="1965960"/>
            <a:ext cx="9245346" cy="0"/>
          </a:xfrm>
          <a:prstGeom prst="line">
            <a:avLst/>
          </a:prstGeom>
          <a:noFill/>
          <a:ln w="38100">
            <a:solidFill>
              <a:srgbClr val="DCE9E4"/>
            </a:solidFill>
            <a:prstDash val="solid"/>
          </a:ln>
        </p:spPr>
      </p:sp>
      <p:sp>
        <p:nvSpPr>
          <p:cNvPr id="4" name="a1_t0_num_c"/>
          <p:cNvSpPr/>
          <p:nvPr/>
        </p:nvSpPr>
        <p:spPr>
          <a:xfrm>
            <a:off x="1153135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1_t0_num_n"/>
          <p:cNvSpPr txBox="1"/>
          <p:nvPr/>
        </p:nvSpPr>
        <p:spPr>
          <a:xfrm>
            <a:off x="1153135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a1_t0_h"/>
          <p:cNvSpPr txBox="1"/>
          <p:nvPr/>
        </p:nvSpPr>
        <p:spPr>
          <a:xfrm>
            <a:off x="640080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a1_t0_t"/>
          <p:cNvSpPr txBox="1"/>
          <p:nvPr/>
        </p:nvSpPr>
        <p:spPr>
          <a:xfrm>
            <a:off x="640080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Письмо поставщикам: документация API и цены</a:t>
            </a:r>
            <a:endParaRPr lang="en-US" sz="1500" dirty="0"/>
          </a:p>
        </p:txBody>
      </p:sp>
      <p:sp>
        <p:nvSpPr>
          <p:cNvPr id="8" name="a2_t1_num_c"/>
          <p:cNvSpPr/>
          <p:nvPr/>
        </p:nvSpPr>
        <p:spPr>
          <a:xfrm>
            <a:off x="3002204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a2_t1_num_n"/>
          <p:cNvSpPr txBox="1"/>
          <p:nvPr/>
        </p:nvSpPr>
        <p:spPr>
          <a:xfrm>
            <a:off x="300220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a2_t1_h"/>
          <p:cNvSpPr txBox="1"/>
          <p:nvPr/>
        </p:nvSpPr>
        <p:spPr>
          <a:xfrm>
            <a:off x="2489149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1" name="a2_t1_t"/>
          <p:cNvSpPr txBox="1"/>
          <p:nvPr/>
        </p:nvSpPr>
        <p:spPr>
          <a:xfrm>
            <a:off x="2489149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Демо с врачом и администратором</a:t>
            </a:r>
            <a:endParaRPr lang="en-US" sz="1500" dirty="0"/>
          </a:p>
        </p:txBody>
      </p:sp>
      <p:sp>
        <p:nvSpPr>
          <p:cNvPr id="12" name="a3_t2_num_c"/>
          <p:cNvSpPr/>
          <p:nvPr/>
        </p:nvSpPr>
        <p:spPr>
          <a:xfrm>
            <a:off x="4851273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a3_t2_num_n"/>
          <p:cNvSpPr txBox="1"/>
          <p:nvPr/>
        </p:nvSpPr>
        <p:spPr>
          <a:xfrm>
            <a:off x="4851273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a3_t2_h"/>
          <p:cNvSpPr txBox="1"/>
          <p:nvPr/>
        </p:nvSpPr>
        <p:spPr>
          <a:xfrm>
            <a:off x="4338218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3–4</a:t>
            </a:r>
            <a:endParaRPr lang="en-US" sz="1700" dirty="0"/>
          </a:p>
        </p:txBody>
      </p:sp>
      <p:sp>
        <p:nvSpPr>
          <p:cNvPr id="15" name="a3_t2_t"/>
          <p:cNvSpPr txBox="1"/>
          <p:nvPr/>
        </p:nvSpPr>
        <p:spPr>
          <a:xfrm>
            <a:off x="4338218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Пробный период и тест подключения на тестовых данных</a:t>
            </a:r>
            <a:endParaRPr lang="en-US" sz="1500" dirty="0"/>
          </a:p>
        </p:txBody>
      </p:sp>
      <p:sp>
        <p:nvSpPr>
          <p:cNvPr id="16" name="a4_t3_num_c"/>
          <p:cNvSpPr/>
          <p:nvPr/>
        </p:nvSpPr>
        <p:spPr>
          <a:xfrm>
            <a:off x="6700342" y="1645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a4_t3_num_n"/>
          <p:cNvSpPr txBox="1"/>
          <p:nvPr/>
        </p:nvSpPr>
        <p:spPr>
          <a:xfrm>
            <a:off x="6700342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a4_t3_h"/>
          <p:cNvSpPr txBox="1"/>
          <p:nvPr/>
        </p:nvSpPr>
        <p:spPr>
          <a:xfrm>
            <a:off x="6187288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4–5</a:t>
            </a:r>
            <a:endParaRPr lang="en-US" sz="1700" dirty="0"/>
          </a:p>
        </p:txBody>
      </p:sp>
      <p:sp>
        <p:nvSpPr>
          <p:cNvPr id="19" name="a4_t3_t"/>
          <p:cNvSpPr txBox="1"/>
          <p:nvPr/>
        </p:nvSpPr>
        <p:spPr>
          <a:xfrm>
            <a:off x="6187288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Решение руководства и договор</a:t>
            </a:r>
            <a:endParaRPr lang="en-US" sz="1500" dirty="0"/>
          </a:p>
        </p:txBody>
      </p:sp>
      <p:sp>
        <p:nvSpPr>
          <p:cNvPr id="20" name="a5_t4_num_c"/>
          <p:cNvSpPr/>
          <p:nvPr/>
        </p:nvSpPr>
        <p:spPr>
          <a:xfrm>
            <a:off x="8549411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5_t4_num_n"/>
          <p:cNvSpPr txBox="1"/>
          <p:nvPr/>
        </p:nvSpPr>
        <p:spPr>
          <a:xfrm>
            <a:off x="8549411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a5_t4_h"/>
          <p:cNvSpPr txBox="1"/>
          <p:nvPr/>
        </p:nvSpPr>
        <p:spPr>
          <a:xfrm>
            <a:off x="8036357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5–9</a:t>
            </a:r>
            <a:endParaRPr lang="en-US" sz="1700" dirty="0"/>
          </a:p>
        </p:txBody>
      </p:sp>
      <p:sp>
        <p:nvSpPr>
          <p:cNvPr id="23" name="a5_t4_t"/>
          <p:cNvSpPr txBox="1"/>
          <p:nvPr/>
        </p:nvSpPr>
        <p:spPr>
          <a:xfrm>
            <a:off x="8036357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Внедрение: шаблоны, склад, перенос базы, ЕГИСЗ, ПроДокторов</a:t>
            </a:r>
            <a:endParaRPr lang="en-US" sz="1500" dirty="0"/>
          </a:p>
        </p:txBody>
      </p:sp>
      <p:sp>
        <p:nvSpPr>
          <p:cNvPr id="24" name="a6_t5_num_c"/>
          <p:cNvSpPr/>
          <p:nvPr/>
        </p:nvSpPr>
        <p:spPr>
          <a:xfrm>
            <a:off x="10398481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a6_t5_num_n"/>
          <p:cNvSpPr txBox="1"/>
          <p:nvPr/>
        </p:nvSpPr>
        <p:spPr>
          <a:xfrm>
            <a:off x="10398481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a6_t5_h"/>
          <p:cNvSpPr txBox="1"/>
          <p:nvPr/>
        </p:nvSpPr>
        <p:spPr>
          <a:xfrm>
            <a:off x="9885426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9–11</a:t>
            </a:r>
            <a:endParaRPr lang="en-US" sz="1700" dirty="0"/>
          </a:p>
        </p:txBody>
      </p:sp>
      <p:sp>
        <p:nvSpPr>
          <p:cNvPr id="27" name="a6_t5_t"/>
          <p:cNvSpPr txBox="1"/>
          <p:nvPr/>
        </p:nvSpPr>
        <p:spPr>
          <a:xfrm>
            <a:off x="9885426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Две недели параллельно с Dikidi, затем отключение</a:t>
            </a:r>
            <a:endParaRPr lang="en-US" sz="1500" dirty="0"/>
          </a:p>
        </p:txBody>
      </p:sp>
      <p:sp>
        <p:nvSpPr>
          <p:cNvPr id="28" name="a7_rule_bg"/>
          <p:cNvSpPr/>
          <p:nvPr/>
        </p:nvSpPr>
        <p:spPr>
          <a:xfrm>
            <a:off x="548640" y="489204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a7_rule_b_c"/>
          <p:cNvSpPr/>
          <p:nvPr/>
        </p:nvSpPr>
        <p:spPr>
          <a:xfrm>
            <a:off x="868680" y="512064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0" name="a7_rule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5281574"/>
            <a:ext cx="409651" cy="409651"/>
          </a:xfrm>
          <a:prstGeom prst="rect">
            <a:avLst/>
          </a:prstGeom>
        </p:spPr>
      </p:pic>
      <p:sp>
        <p:nvSpPr>
          <p:cNvPr id="31" name="a7_rule_t"/>
          <p:cNvSpPr txBox="1"/>
          <p:nvPr/>
        </p:nvSpPr>
        <p:spPr>
          <a:xfrm>
            <a:off x="1828800" y="4892040"/>
            <a:ext cx="9448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Правило отбора: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поставщик, который за 5 рабочих дней не пришлёт документацию API и коммерческое предложение, уходит в резерв.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Что нужно от клиники сегодня</a:t>
            </a:r>
            <a:endParaRPr lang="en-US" sz="3400" dirty="0"/>
          </a:p>
        </p:txBody>
      </p:sp>
      <p:sp>
        <p:nvSpPr>
          <p:cNvPr id="3" name="a1_ask0_num_c"/>
          <p:cNvSpPr/>
          <p:nvPr/>
        </p:nvSpPr>
        <p:spPr>
          <a:xfrm>
            <a:off x="548640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a1_ask0_num_n"/>
          <p:cNvSpPr txBox="1"/>
          <p:nvPr/>
        </p:nvSpPr>
        <p:spPr>
          <a:xfrm>
            <a:off x="5486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a1_ask0_h"/>
          <p:cNvSpPr txBox="1"/>
          <p:nvPr/>
        </p:nvSpPr>
        <p:spPr>
          <a:xfrm>
            <a:off x="1417320" y="148132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Согласовать короткий список</a:t>
            </a:r>
            <a:endParaRPr lang="en-US" sz="2100" dirty="0"/>
          </a:p>
        </p:txBody>
      </p:sp>
      <p:sp>
        <p:nvSpPr>
          <p:cNvPr id="6" name="a1_ask0_t"/>
          <p:cNvSpPr txBox="1"/>
          <p:nvPr/>
        </p:nvSpPr>
        <p:spPr>
          <a:xfrm>
            <a:off x="5760720" y="1481328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Клиентикс, SQNS, Renovatio; резерв — MEDODS и Medesk</a:t>
            </a:r>
            <a:endParaRPr lang="en-US" sz="1700" dirty="0"/>
          </a:p>
        </p:txBody>
      </p:sp>
      <p:sp>
        <p:nvSpPr>
          <p:cNvPr id="7" name="a2_ask1_num_c"/>
          <p:cNvSpPr/>
          <p:nvPr/>
        </p:nvSpPr>
        <p:spPr>
          <a:xfrm>
            <a:off x="548640" y="2450592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a2_ask1_num_n"/>
          <p:cNvSpPr txBox="1"/>
          <p:nvPr/>
        </p:nvSpPr>
        <p:spPr>
          <a:xfrm>
            <a:off x="548640" y="2450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a2_ask1_h"/>
          <p:cNvSpPr txBox="1"/>
          <p:nvPr/>
        </p:nvSpPr>
        <p:spPr>
          <a:xfrm>
            <a:off x="1417320" y="24231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Выделить врача и администратора</a:t>
            </a:r>
            <a:endParaRPr lang="en-US" sz="2100" dirty="0"/>
          </a:p>
        </p:txBody>
      </p:sp>
      <p:sp>
        <p:nvSpPr>
          <p:cNvPr id="10" name="a2_ask1_t"/>
          <p:cNvSpPr txBox="1"/>
          <p:nvPr/>
        </p:nvSpPr>
        <p:spPr>
          <a:xfrm>
            <a:off x="5760720" y="2423160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три демо примерно по 1,5 часа в ближайшие две недели</a:t>
            </a:r>
            <a:endParaRPr lang="en-US" sz="1700" dirty="0"/>
          </a:p>
        </p:txBody>
      </p:sp>
      <p:sp>
        <p:nvSpPr>
          <p:cNvPr id="11" name="a3_ask2_num_c"/>
          <p:cNvSpPr/>
          <p:nvPr/>
        </p:nvSpPr>
        <p:spPr>
          <a:xfrm>
            <a:off x="548640" y="3392424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a3_ask2_num_n"/>
          <p:cNvSpPr txBox="1"/>
          <p:nvPr/>
        </p:nvSpPr>
        <p:spPr>
          <a:xfrm>
            <a:off x="548640" y="339242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a3_ask2_h"/>
          <p:cNvSpPr txBox="1"/>
          <p:nvPr/>
        </p:nvSpPr>
        <p:spPr>
          <a:xfrm>
            <a:off x="1417320" y="3364992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Назвать потолок бюджета</a:t>
            </a:r>
            <a:endParaRPr lang="en-US" sz="2100" dirty="0"/>
          </a:p>
        </p:txBody>
      </p:sp>
      <p:sp>
        <p:nvSpPr>
          <p:cNvPr id="14" name="a3_ask2_t"/>
          <p:cNvSpPr txBox="1"/>
          <p:nvPr/>
        </p:nvSpPr>
        <p:spPr>
          <a:xfrm>
            <a:off x="5760720" y="3364992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сколько клиника готова платить за МИС в месяц</a:t>
            </a:r>
            <a:endParaRPr lang="en-US" sz="1700" dirty="0"/>
          </a:p>
        </p:txBody>
      </p:sp>
      <p:sp>
        <p:nvSpPr>
          <p:cNvPr id="15" name="a4_ask3_num_c"/>
          <p:cNvSpPr/>
          <p:nvPr/>
        </p:nvSpPr>
        <p:spPr>
          <a:xfrm>
            <a:off x="548640" y="4334256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a4_ask3_num_n"/>
          <p:cNvSpPr txBox="1"/>
          <p:nvPr/>
        </p:nvSpPr>
        <p:spPr>
          <a:xfrm>
            <a:off x="548640" y="43342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a4_ask3_h"/>
          <p:cNvSpPr txBox="1"/>
          <p:nvPr/>
        </p:nvSpPr>
        <p:spPr>
          <a:xfrm>
            <a:off x="1417320" y="4306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Подключить юриста</a:t>
            </a:r>
            <a:endParaRPr lang="en-US" sz="2100" dirty="0"/>
          </a:p>
        </p:txBody>
      </p:sp>
      <p:sp>
        <p:nvSpPr>
          <p:cNvPr id="18" name="a4_ask3_t"/>
          <p:cNvSpPr txBox="1"/>
          <p:nvPr/>
        </p:nvSpPr>
        <p:spPr>
          <a:xfrm>
            <a:off x="5760720" y="4306824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ЕГИСЗ, договор на обработку данных, тексты согласий</a:t>
            </a:r>
            <a:endParaRPr lang="en-US" sz="1700" dirty="0"/>
          </a:p>
        </p:txBody>
      </p:sp>
      <p:sp>
        <p:nvSpPr>
          <p:cNvPr id="19" name="a5_ask4_num_c"/>
          <p:cNvSpPr/>
          <p:nvPr/>
        </p:nvSpPr>
        <p:spPr>
          <a:xfrm>
            <a:off x="548640" y="5276088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a5_ask4_num_n"/>
          <p:cNvSpPr txBox="1"/>
          <p:nvPr/>
        </p:nvSpPr>
        <p:spPr>
          <a:xfrm>
            <a:off x="548640" y="52760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a5_ask4_h"/>
          <p:cNvSpPr txBox="1"/>
          <p:nvPr/>
        </p:nvSpPr>
        <p:spPr>
          <a:xfrm>
            <a:off x="1417320" y="5248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Дать вводные</a:t>
            </a:r>
            <a:endParaRPr lang="en-US" sz="2100" dirty="0"/>
          </a:p>
        </p:txBody>
      </p:sp>
      <p:sp>
        <p:nvSpPr>
          <p:cNvPr id="22" name="a5_ask4_t"/>
          <p:cNvSpPr txBox="1"/>
          <p:nvPr/>
        </p:nvSpPr>
        <p:spPr>
          <a:xfrm>
            <a:off x="5760720" y="5248656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ФРМО/ФРМР, уведомление в Роскомнадзор, есть ли УКЭП, сколько пациентов и визитов в месяц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Вопросы поставщикам до демо</a:t>
            </a:r>
            <a:endParaRPr lang="en-US" sz="3400" dirty="0"/>
          </a:p>
        </p:txBody>
      </p:sp>
      <p:sp>
        <p:nvSpPr>
          <p:cNvPr id="3" name="q0_num_c"/>
          <p:cNvSpPr/>
          <p:nvPr/>
        </p:nvSpPr>
        <p:spPr>
          <a:xfrm>
            <a:off x="548640" y="144475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0_num_n"/>
          <p:cNvSpPr txBox="1"/>
          <p:nvPr/>
        </p:nvSpPr>
        <p:spPr>
          <a:xfrm>
            <a:off x="54864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q0"/>
          <p:cNvSpPr txBox="1"/>
          <p:nvPr/>
        </p:nvSpPr>
        <p:spPr>
          <a:xfrm>
            <a:off x="1188720" y="141732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Документация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пациенты, врачи, услуги и цены, свободное время, создание и отмена записи, завершённые визиты</a:t>
            </a:r>
            <a:endParaRPr lang="en-US" sz="1400" dirty="0"/>
          </a:p>
        </p:txBody>
      </p:sp>
      <p:sp>
        <p:nvSpPr>
          <p:cNvPr id="6" name="q1_num_c"/>
          <p:cNvSpPr/>
          <p:nvPr/>
        </p:nvSpPr>
        <p:spPr>
          <a:xfrm>
            <a:off x="548640" y="26609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q1_num_n"/>
          <p:cNvSpPr txBox="1"/>
          <p:nvPr/>
        </p:nvSpPr>
        <p:spPr>
          <a:xfrm>
            <a:off x="54864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q1"/>
          <p:cNvSpPr txBox="1"/>
          <p:nvPr/>
        </p:nvSpPr>
        <p:spPr>
          <a:xfrm>
            <a:off x="1188720" y="2633472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Уведомления о записях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есть ли вебхуки на создание, изменение, отмену и завершение визита</a:t>
            </a:r>
            <a:endParaRPr lang="en-US" sz="1400" dirty="0"/>
          </a:p>
        </p:txBody>
      </p:sp>
      <p:sp>
        <p:nvSpPr>
          <p:cNvPr id="9" name="q2_num_c"/>
          <p:cNvSpPr/>
          <p:nvPr/>
        </p:nvSpPr>
        <p:spPr>
          <a:xfrm>
            <a:off x="548640" y="3877056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q2_num_n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q2"/>
          <p:cNvSpPr txBox="1"/>
          <p:nvPr/>
        </p:nvSpPr>
        <p:spPr>
          <a:xfrm>
            <a:off x="1188720" y="3849624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Цена API и тарифы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что входит в «рабочее место», цена модулей, внедрения, обучения, лимиты визитов</a:t>
            </a:r>
            <a:endParaRPr lang="en-US" sz="1400" dirty="0"/>
          </a:p>
        </p:txBody>
      </p:sp>
      <p:sp>
        <p:nvSpPr>
          <p:cNvPr id="12" name="q3_num_c"/>
          <p:cNvSpPr/>
          <p:nvPr/>
        </p:nvSpPr>
        <p:spPr>
          <a:xfrm>
            <a:off x="548640" y="50932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q3_num_n"/>
          <p:cNvSpPr txBox="1"/>
          <p:nvPr/>
        </p:nvSpPr>
        <p:spPr>
          <a:xfrm>
            <a:off x="54864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q3"/>
          <p:cNvSpPr txBox="1"/>
          <p:nvPr/>
        </p:nvSpPr>
        <p:spPr>
          <a:xfrm>
            <a:off x="1188720" y="5065776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Где хранятся данные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дата-центр в России, договор на обработку данных, срок уведомления об инциденте</a:t>
            </a:r>
            <a:endParaRPr lang="en-US" sz="1400" dirty="0"/>
          </a:p>
        </p:txBody>
      </p:sp>
      <p:sp>
        <p:nvSpPr>
          <p:cNvPr id="15" name="q4_num_c"/>
          <p:cNvSpPr/>
          <p:nvPr/>
        </p:nvSpPr>
        <p:spPr>
          <a:xfrm>
            <a:off x="6324448" y="144475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q4_num_n"/>
          <p:cNvSpPr txBox="1"/>
          <p:nvPr/>
        </p:nvSpPr>
        <p:spPr>
          <a:xfrm>
            <a:off x="6324448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q4"/>
          <p:cNvSpPr txBox="1"/>
          <p:nvPr/>
        </p:nvSpPr>
        <p:spPr>
          <a:xfrm>
            <a:off x="6964528" y="141732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Косметология на демо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шаблон осмотра, фото до/после, согласие на планшете, абонементы, ботулотоксин в единицах</a:t>
            </a:r>
            <a:endParaRPr lang="en-US" sz="1400" dirty="0"/>
          </a:p>
        </p:txBody>
      </p:sp>
      <p:sp>
        <p:nvSpPr>
          <p:cNvPr id="18" name="q5_num_c"/>
          <p:cNvSpPr/>
          <p:nvPr/>
        </p:nvSpPr>
        <p:spPr>
          <a:xfrm>
            <a:off x="6324448" y="26609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q5_num_n"/>
          <p:cNvSpPr txBox="1"/>
          <p:nvPr/>
        </p:nvSpPr>
        <p:spPr>
          <a:xfrm>
            <a:off x="6324448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q5"/>
          <p:cNvSpPr txBox="1"/>
          <p:nvPr/>
        </p:nvSpPr>
        <p:spPr>
          <a:xfrm>
            <a:off x="6964528" y="2633472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ЕГИСЗ и подписи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какие документы отправляются, через кого, стоимость оператора, работа с УКЭП</a:t>
            </a:r>
            <a:endParaRPr lang="en-US" sz="1400" dirty="0"/>
          </a:p>
        </p:txBody>
      </p:sp>
      <p:sp>
        <p:nvSpPr>
          <p:cNvPr id="21" name="q6_num_c"/>
          <p:cNvSpPr/>
          <p:nvPr/>
        </p:nvSpPr>
        <p:spPr>
          <a:xfrm>
            <a:off x="6324448" y="3877056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q6_num_n"/>
          <p:cNvSpPr txBox="1"/>
          <p:nvPr/>
        </p:nvSpPr>
        <p:spPr>
          <a:xfrm>
            <a:off x="6324448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q6"/>
          <p:cNvSpPr txBox="1"/>
          <p:nvPr/>
        </p:nvSpPr>
        <p:spPr>
          <a:xfrm>
            <a:off x="6964528" y="3849624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Выгрузка при уходе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все карты, фото и подписанные документы, формат, гарантия хранения 25 лет</a:t>
            </a:r>
            <a:endParaRPr lang="en-US" sz="1400" dirty="0"/>
          </a:p>
        </p:txBody>
      </p:sp>
      <p:sp>
        <p:nvSpPr>
          <p:cNvPr id="24" name="q7_num_c"/>
          <p:cNvSpPr/>
          <p:nvPr/>
        </p:nvSpPr>
        <p:spPr>
          <a:xfrm>
            <a:off x="6324448" y="50932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q7_num_n"/>
          <p:cNvSpPr txBox="1"/>
          <p:nvPr/>
        </p:nvSpPr>
        <p:spPr>
          <a:xfrm>
            <a:off x="6324448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q7"/>
          <p:cNvSpPr txBox="1"/>
          <p:nvPr/>
        </p:nvSpPr>
        <p:spPr>
          <a:xfrm>
            <a:off x="6964528" y="5065776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Поддержка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часы работы вечером и в субботу, SLA, персональный менеджер после внедрения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Регеника">
  <a:themeElements>
    <a:clrScheme name="Регеника">
      <a:dk1>
        <a:srgbClr val="18211E"/>
      </a:dk1>
      <a:lt1>
        <a:srgbClr val="FFFFFF"/>
      </a:lt1>
      <a:dk2>
        <a:srgbClr val="1F4C40"/>
      </a:dk2>
      <a:lt2>
        <a:srgbClr val="F1F3F2"/>
      </a:lt2>
      <a:accent1>
        <a:srgbClr val="2E6A5A"/>
      </a:accent1>
      <a:accent2>
        <a:srgbClr val="1F4C40"/>
      </a:accent2>
      <a:accent3>
        <a:srgbClr val="DCE9E4"/>
      </a:accent3>
      <a:accent4>
        <a:srgbClr val="B4532A"/>
      </a:accent4>
      <a:accent5>
        <a:srgbClr val="8A6100"/>
      </a:accent5>
      <a:accent6>
        <a:srgbClr val="55625D"/>
      </a:accent6>
      <a:hlink>
        <a:srgbClr val="2E6A5A"/>
      </a:hlink>
      <a:folHlink>
        <a:srgbClr val="1F4C40"/>
      </a:folHlink>
    </a:clrScheme>
    <a:fontScheme name="Регеника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ClinicHub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Выбор медицинской информационной системы для «Регеники»</dc:title>
  <dc:subject>PptxGenJS Presentation</dc:subject>
  <dc:creator>Святослав Добряков</dc:creator>
  <cp:lastModifiedBy>Святослав Добряков</cp:lastModifiedBy>
  <cp:revision>1</cp:revision>
  <dcterms:created xsi:type="dcterms:W3CDTF">2026-10-19T09:38:50Z</dcterms:created>
  <dcterms:modified xsi:type="dcterms:W3CDTF">2026-10-19T09:38:50Z</dcterms:modified>
</cp:coreProperties>
</file>